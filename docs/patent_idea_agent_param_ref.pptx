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09728" cy="2377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9488"/>
                </a:solidFill>
                <a:latin typeface="Microsoft YaHei"/>
              </a:rPr>
              <a:t>专利 IDEA</a:t>
            </a:r>
          </a:p>
          <a:p>
            <a:r>
              <a:rPr sz="2800" b="1">
                <a:solidFill>
                  <a:srgbClr val="FFFFFF"/>
                </a:solidFill>
                <a:latin typeface="Microsoft YaHei"/>
              </a:rPr>
              <a:t>一种面向智能体工具链的参数引用解析机制</a:t>
            </a:r>
          </a:p>
          <a:p>
            <a:r>
              <a:rPr sz="1300" b="0">
                <a:solidFill>
                  <a:srgbClr val="94A3B8"/>
                </a:solidFill>
                <a:latin typeface="Microsoft YaHei"/>
              </a:rPr>
              <a:t>背景技术 → 技术方案 → 保护点 → 有益效果 → 取证方法 → 检索分析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BD5E1"/>
                </a:solidFill>
                <a:latin typeface="Microsoft YaHei"/>
              </a:rPr>
              <a:t>模型只表达引用意图　｜　执行前统一拦截求值　｜　真值来自查表/工作记忆　｜　工具零改动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YaHei"/>
              </a:rPr>
              <a:t>目录</a:t>
            </a:r>
          </a:p>
          <a:p>
            <a:r>
              <a:rPr sz="1100" b="0">
                <a:solidFill>
                  <a:srgbClr val="94A3B8"/>
                </a:solidFill>
                <a:latin typeface="Microsoft YaHei"/>
              </a:rPr>
              <a:t>IDEA 撰写结构一览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11064240" cy="53035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612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9488"/>
                </a:solidFill>
                <a:latin typeface="Microsoft YaHei"/>
              </a:rPr>
              <a:t>01  </a:t>
            </a:r>
            <a:r>
              <a:rPr sz="1500" b="0">
                <a:solidFill>
                  <a:srgbClr val="334155"/>
                </a:solidFill>
                <a:latin typeface="Microsoft YaHei"/>
              </a:rPr>
              <a:t>来源与公开边界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73352"/>
            <a:ext cx="110642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9488"/>
                </a:solidFill>
                <a:latin typeface="Microsoft YaHei"/>
              </a:rPr>
              <a:t>02  </a:t>
            </a:r>
            <a:r>
              <a:rPr sz="1500" b="0">
                <a:solidFill>
                  <a:srgbClr val="334155"/>
                </a:solidFill>
                <a:latin typeface="Microsoft YaHei"/>
              </a:rPr>
              <a:t>背景技术：问题与现有缺陷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95144"/>
            <a:ext cx="11064240" cy="53035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048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9488"/>
                </a:solidFill>
                <a:latin typeface="Microsoft YaHei"/>
              </a:rPr>
              <a:t>03  </a:t>
            </a:r>
            <a:r>
              <a:rPr sz="1500" b="0">
                <a:solidFill>
                  <a:srgbClr val="334155"/>
                </a:solidFill>
                <a:latin typeface="Microsoft YaHei"/>
              </a:rPr>
              <a:t>技术方案：架构 / 流程 / 双引用协议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16936"/>
            <a:ext cx="110642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2666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9488"/>
                </a:solidFill>
                <a:latin typeface="Microsoft YaHei"/>
              </a:rPr>
              <a:t>04  </a:t>
            </a:r>
            <a:r>
              <a:rPr sz="1500" b="0">
                <a:solidFill>
                  <a:srgbClr val="334155"/>
                </a:solidFill>
                <a:latin typeface="Microsoft YaHei"/>
              </a:rPr>
              <a:t>保护点：方案与架构特征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38728"/>
            <a:ext cx="11064240" cy="53035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48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9488"/>
                </a:solidFill>
                <a:latin typeface="Microsoft YaHei"/>
              </a:rPr>
              <a:t>05  </a:t>
            </a:r>
            <a:r>
              <a:rPr sz="1500" b="0">
                <a:solidFill>
                  <a:srgbClr val="334155"/>
                </a:solidFill>
                <a:latin typeface="Microsoft YaHei"/>
              </a:rPr>
              <a:t>有益效果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110642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702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9488"/>
                </a:solidFill>
                <a:latin typeface="Microsoft YaHei"/>
              </a:rPr>
              <a:t>06  </a:t>
            </a:r>
            <a:r>
              <a:rPr sz="1500" b="0">
                <a:solidFill>
                  <a:srgbClr val="334155"/>
                </a:solidFill>
                <a:latin typeface="Microsoft YaHei"/>
              </a:rPr>
              <a:t>取证方法（针对友商）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82312"/>
            <a:ext cx="11064240" cy="53035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92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9488"/>
                </a:solidFill>
                <a:latin typeface="Microsoft YaHei"/>
              </a:rPr>
              <a:t>07  </a:t>
            </a:r>
            <a:r>
              <a:rPr sz="1500" b="0">
                <a:solidFill>
                  <a:srgbClr val="334155"/>
                </a:solidFill>
                <a:latin typeface="Microsoft YaHei"/>
              </a:rPr>
              <a:t>专利检索与区别分析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04104"/>
            <a:ext cx="110642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9488"/>
                </a:solidFill>
                <a:latin typeface="Microsoft YaHei"/>
              </a:rPr>
              <a:t>08  </a:t>
            </a:r>
            <a:r>
              <a:rPr sz="1500" b="0">
                <a:solidFill>
                  <a:srgbClr val="334155"/>
                </a:solidFill>
                <a:latin typeface="Microsoft YaHei"/>
              </a:rPr>
              <a:t>摘要与待办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专利 IDEA ｜ 一种面向智能体工具链的参数引用解析机制 ｜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YaHei"/>
              </a:rPr>
              <a:t>01  IDEA 来源与公开边界</a:t>
            </a:r>
          </a:p>
          <a:p>
            <a:r>
              <a:rPr sz="1100" b="0">
                <a:solidFill>
                  <a:srgbClr val="94A3B8"/>
                </a:solidFill>
                <a:latin typeface="Microsoft YaHei"/>
              </a:rPr>
              <a:t>产品信息页：识别来源，避免现有技术/公开阻却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51560"/>
            <a:ext cx="55778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766E"/>
                </a:solidFill>
                <a:latin typeface="Microsoft YaHei"/>
              </a:rPr>
              <a:t>来源说明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来自智能体工具编排产品/项目设计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针对：跨工具传参成本、长值照抄错误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补充场景：手机应用包名等弱语义标识易幻觉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形成统一「参数引用 + 调用前解析」方案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486400" cy="50292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2400E"/>
                </a:solidFill>
                <a:latin typeface="Microsoft YaHei"/>
              </a:rPr>
              <a:t>申报注意（必核）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已发布产品算现有技术，不能再报 IDEA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已与外界/三方交流过的方案可能构成公开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请在公开前至少 2～3 个月提交 IDEA 电子流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本文未引用外部非公开信息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【待发明人确认】是否已发布 / 是否已对外交流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专利 IDEA ｜ 一种面向智能体工具链的参数引用解析机制 ｜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YaHei"/>
              </a:rPr>
              <a:t>02  背景技术</a:t>
            </a:r>
          </a:p>
          <a:p>
            <a:r>
              <a:rPr sz="1100" b="0">
                <a:solidFill>
                  <a:srgbClr val="94A3B8"/>
                </a:solidFill>
                <a:latin typeface="Microsoft YaHei"/>
              </a:rPr>
              <a:t>应用场景 + 现有做法为什么解决不了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669280" cy="2468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40AF"/>
                </a:solidFill>
                <a:latin typeface="Microsoft YaHei"/>
              </a:rPr>
              <a:t>应用场景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• 跨工具传参：上一工具 fileUri / 大字段 → 下一工具入参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• 弱语义标识：forbidPermission 需要真实 bundleName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• 包名不规范，用户说「抖音」但工具要 packageName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532120" cy="24688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43000"/>
            <a:ext cx="5166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F1239"/>
                </a:solidFill>
                <a:latin typeface="Microsoft YaHei"/>
              </a:rPr>
              <a:t>现有路径痛点（包名例）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• ① 先 getAllInstalledApps 查列表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• ② 再 forbidPermission(bundleName, …) → 两轮 Loop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• 凭记忆易编造错误包名；工具多无法逐个改造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57600"/>
            <a:ext cx="113842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10972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Microsoft YaHei"/>
              </a:rPr>
              <a:t>现有技术缺陷（简明）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多轮开销：为拿真实标识额外查询；长结果反复回灌抬高 Input Token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幻觉 / 照抄：弱语义标识易编造；长 URI 易截断改写，遵从性差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工具难改 + 真值权威在模型：缺少「真实值只能来自查表/记忆」的结构性约束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业界相近：提示词约束、工作流预置变量替换、密钥引用注入——均难同时满足少轮次、零改工具、消业务标识幻觉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专利 IDEA ｜ 一种面向智能体工具链的参数引用解析机制 ｜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YaHei"/>
              </a:rPr>
              <a:t>03  技术方案架构</a:t>
            </a:r>
          </a:p>
          <a:p>
            <a:r>
              <a:rPr sz="1100" b="0">
                <a:solidFill>
                  <a:srgbClr val="94A3B8"/>
                </a:solidFill>
                <a:latin typeface="Microsoft YaHei"/>
              </a:rPr>
              <a:t>改进点位置：模型产出 tool call 之后、工具真正执行之前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19456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98448"/>
            <a:ext cx="20116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Microsoft YaHei"/>
              </a:rPr>
              <a:t>大模型</a:t>
            </a:r>
          </a:p>
          <a:p>
            <a:r>
              <a:rPr sz="1100" b="0">
                <a:solidFill>
                  <a:srgbClr val="334155"/>
                </a:solidFill>
                <a:latin typeface="Microsoft YaHei"/>
              </a:rPr>
              <a:t>输出含 ${…}</a:t>
            </a:r>
          </a:p>
          <a:p>
            <a:r>
              <a:rPr sz="1100" b="0">
                <a:solidFill>
                  <a:srgbClr val="334155"/>
                </a:solidFill>
                <a:latin typeface="Microsoft YaHei"/>
              </a:rPr>
              <a:t>的工具入参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188720"/>
            <a:ext cx="2926080" cy="10972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1298448"/>
            <a:ext cx="274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Microsoft YaHei"/>
              </a:rPr>
              <a:t>调度层 + 拦截器</a:t>
            </a:r>
          </a:p>
          <a:p>
            <a:r>
              <a:rPr sz="1100" b="0">
                <a:solidFill>
                  <a:srgbClr val="334155"/>
                </a:solidFill>
                <a:latin typeface="Microsoft YaHei"/>
              </a:rPr>
              <a:t>扫描占位符</a:t>
            </a:r>
          </a:p>
          <a:p>
            <a:r>
              <a:rPr sz="1100" b="0">
                <a:solidFill>
                  <a:srgbClr val="334155"/>
                </a:solidFill>
                <a:latin typeface="Microsoft YaHei"/>
              </a:rPr>
              <a:t>查表求值 / 短路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051560"/>
            <a:ext cx="2560320" cy="6400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161288"/>
            <a:ext cx="237743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Microsoft YaHei"/>
              </a:rPr>
              <a:t>工作记忆</a:t>
            </a:r>
          </a:p>
          <a:p>
            <a:r>
              <a:rPr sz="1100" b="0">
                <a:solidFill>
                  <a:srgbClr val="334155"/>
                </a:solidFill>
                <a:latin typeface="Microsoft YaHei"/>
              </a:rPr>
              <a:t>结果引用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783080"/>
            <a:ext cx="2560320" cy="6400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1892807"/>
            <a:ext cx="237743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Microsoft YaHei"/>
              </a:rPr>
              <a:t>语义词典</a:t>
            </a:r>
          </a:p>
          <a:p>
            <a:r>
              <a:rPr sz="1100" b="0">
                <a:solidFill>
                  <a:srgbClr val="334155"/>
                </a:solidFill>
                <a:latin typeface="Microsoft YaHei"/>
              </a:rPr>
              <a:t>同义词+映射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188720"/>
            <a:ext cx="2834640" cy="1097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7" y="1298448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Microsoft YaHei"/>
              </a:rPr>
              <a:t>工具执行</a:t>
            </a:r>
          </a:p>
          <a:p>
            <a:r>
              <a:rPr sz="1100" b="0">
                <a:solidFill>
                  <a:srgbClr val="334155"/>
                </a:solidFill>
                <a:latin typeface="Microsoft YaHei"/>
              </a:rPr>
              <a:t>只收真值</a:t>
            </a:r>
          </a:p>
          <a:p>
            <a:r>
              <a:rPr sz="1100" b="0">
                <a:solidFill>
                  <a:srgbClr val="334155"/>
                </a:solidFill>
                <a:latin typeface="Microsoft YaHei"/>
              </a:rPr>
              <a:t>实现零改动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D9488"/>
                </a:solidFill>
                <a:latin typeface="Microsoft Ya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D9488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606040"/>
            <a:ext cx="113842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78892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Microsoft YaHei"/>
              </a:rPr>
              <a:t>端到端步骤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S1 工具成功返回 → 默认写入工作记忆，分配短 resultId（对内可映射 toolCallId）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S2 送模前可选掩码：fileUri/fileId 等替换为占位符（所见即所填）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S3 模型填 ${…}，不编造真实包名/长 URI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S4 统一入口拦截：求值成功则回填执行；失败短路，禁止 ${…} 字面量透传工具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S5 语义未命中/歧义 → 可触发查询类工具刷新词典后重试（热路径仍 1 Loop）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专利 IDEA ｜ 一种面向智能体工具链的参数引用解析机制 ｜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YaHei"/>
              </a:rPr>
              <a:t>03  双引用协议 + 语义双表</a:t>
            </a:r>
          </a:p>
          <a:p>
            <a:r>
              <a:rPr sz="1100" b="0">
                <a:solidFill>
                  <a:srgbClr val="94A3B8"/>
                </a:solidFill>
                <a:latin typeface="Microsoft YaHei"/>
              </a:rPr>
              <a:t>同一求值管道，两类数据源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5669280" cy="3200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40AF"/>
                </a:solidFill>
                <a:latin typeface="Microsoft YaHei"/>
              </a:rPr>
              <a:t>A. 结果引用（跨工具传参）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语法：${resultId.jsonpath}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resultId：字母数字、无「.」；首个「.」切路径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数据源：工作记忆（全量返回优先 → 适配视图）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例：${a1b2c3d4.fileUri}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532120" cy="32004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66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766E"/>
                </a:solidFill>
                <a:latin typeface="Microsoft YaHei"/>
              </a:rPr>
              <a:t>B. 语义实体引用（包名等）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语法：${namespace.entity.attribute}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例：${app.抖音.bundleName}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模型只表达「哪个应用」，真值查表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namespace 可扩展：app / contact / device…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434840"/>
            <a:ext cx="11384280" cy="1828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57200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2400E"/>
                </a:solidFill>
                <a:latin typeface="Microsoft YaHei"/>
              </a:rPr>
              <a:t>语义词典两张表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T1 同义词：douyin / Douyin → 抖音（别名归一）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T2 映射：(app, 抖音, bundleName) → com.ss.android.ugc.aweme；0 条失败 / 1 条成功 / 多条歧义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专利 IDEA ｜ 一种面向智能体工具链的参数引用解析机制 ｜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YaHei"/>
              </a:rPr>
              <a:t>03  实施例对比</a:t>
            </a:r>
          </a:p>
          <a:p>
            <a:r>
              <a:rPr sz="1100" b="0">
                <a:solidFill>
                  <a:srgbClr val="94A3B8"/>
                </a:solidFill>
                <a:latin typeface="Microsoft YaHei"/>
              </a:rPr>
              <a:t>包名场景：从 2 Loop 到 1 Loop；工具零改动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5669280" cy="50292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F1239"/>
                </a:solidFill>
                <a:latin typeface="Microsoft YaHei"/>
              </a:rPr>
              <a:t>原路径（有缺陷）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icrosoft YaHei"/>
              </a:rPr>
              <a:t>• Loop1：getAllInstalledApps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icrosoft YaHei"/>
              </a:rPr>
              <a:t>• 模型从列表抄 bundleName（或凭记忆编造）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icrosoft YaHei"/>
              </a:rPr>
              <a:t>• Loop2：forbidPermission(真实或错误包名, …)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icrosoft YaHei"/>
              </a:rPr>
              <a:t>• 工具多，无法逐个改造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icrosoft YaHei"/>
              </a:rPr>
              <a:t>• 真值权威仍在模型侧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532120" cy="5029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66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803D"/>
                </a:solidFill>
                <a:latin typeface="Microsoft YaHei"/>
              </a:rPr>
              <a:t>本方案路径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icrosoft YaHei"/>
              </a:rPr>
              <a:t>• 一次调用业务工具：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icrosoft YaHei"/>
              </a:rPr>
              <a:t>• forbidPermission(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icrosoft YaHei"/>
              </a:rPr>
              <a:t>•   bundleName="${app.抖音.bundleName}",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icrosoft YaHei"/>
              </a:rPr>
              <a:t>•   permission="麦克风")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icrosoft YaHei"/>
              </a:rPr>
              <a:t>• 拦截器：T1 归一 → T2 映射 → 回填真包名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icrosoft YaHei"/>
              </a:rPr>
              <a:t>• 工具无感知；失败才走查询兜底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专利 IDEA ｜ 一种面向智能体工具链的参数引用解析机制 ｜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YaHei"/>
              </a:rPr>
              <a:t>04  保护点</a:t>
            </a:r>
          </a:p>
          <a:p>
            <a:r>
              <a:rPr sz="1100" b="0">
                <a:solidFill>
                  <a:srgbClr val="94A3B8"/>
                </a:solidFill>
                <a:latin typeface="Microsoft YaHei"/>
              </a:rPr>
              <a:t>描述方案/架构/技术实现，不是概念或效果口号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60120"/>
            <a:ext cx="11384280" cy="9144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698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Microsoft YaHei"/>
              </a:rPr>
              <a:t>保护点1 · 核心方案</a:t>
            </a:r>
          </a:p>
          <a:p>
            <a:r>
              <a:rPr sz="1100" b="0">
                <a:solidFill>
                  <a:srgbClr val="334155"/>
                </a:solidFill>
                <a:latin typeface="Microsoft YaHei"/>
              </a:rPr>
              <a:t>模型输出统一引用占位符；调度层执行前拦截解析；从工作记忆和/或语义词典回填真值；失败短路不透传；工具无需改造。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65960"/>
            <a:ext cx="11384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7568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Microsoft YaHei"/>
              </a:rPr>
              <a:t>保护点2 · 双协议</a:t>
            </a:r>
          </a:p>
          <a:p>
            <a:r>
              <a:rPr sz="1100" b="0">
                <a:solidFill>
                  <a:srgbClr val="334155"/>
                </a:solidFill>
                <a:latin typeface="Microsoft YaHei"/>
              </a:rPr>
              <a:t>同时支持 ${resultId.path} 结果引用与 ${ns.entity.attr} 语义引用；同一拦截管道；按命名空间等规则判别类型。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971800"/>
            <a:ext cx="11384280" cy="9144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815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Microsoft YaHei"/>
              </a:rPr>
              <a:t>保护点3 · 双表消歧</a:t>
            </a:r>
          </a:p>
          <a:p>
            <a:r>
              <a:rPr sz="1100" b="0">
                <a:solidFill>
                  <a:srgbClr val="334155"/>
                </a:solidFill>
                <a:latin typeface="Microsoft YaHei"/>
              </a:rPr>
              <a:t>同义词归一表 + 实体属性映射表，使弱语义业务标识（如包名）真值不由模型生成。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977640"/>
            <a:ext cx="11384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87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Microsoft YaHei"/>
              </a:rPr>
              <a:t>保护点4 · 掩码</a:t>
            </a:r>
          </a:p>
          <a:p>
            <a:r>
              <a:rPr sz="1100" b="0">
                <a:solidFill>
                  <a:srgbClr val="334155"/>
                </a:solidFill>
                <a:latin typeface="Microsoft YaHei"/>
              </a:rPr>
              <a:t>送模前将选定字段替换为占位符；模型原样回传；拦截器展开（所见即所填）。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983480"/>
            <a:ext cx="11384280" cy="9144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9320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Microsoft YaHei"/>
              </a:rPr>
              <a:t>保护点5 · 架构</a:t>
            </a:r>
          </a:p>
          <a:p>
            <a:r>
              <a:rPr sz="1100" b="0">
                <a:solidFill>
                  <a:srgbClr val="334155"/>
                </a:solidFill>
                <a:latin typeface="Microsoft YaHei"/>
              </a:rPr>
              <a:t>交互模块 + 带拦截器的调度模块 + 工作记忆 + 语义词典 + 执行模块；拦截器串接于调度与执行之间实现对全工具覆盖。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专利 IDEA ｜ 一种面向智能体工具链的参数引用解析机制 ｜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YaHei"/>
              </a:rPr>
              <a:t>05  有益效果</a:t>
            </a:r>
          </a:p>
          <a:p>
            <a:r>
              <a:rPr sz="1100" b="0">
                <a:solidFill>
                  <a:srgbClr val="94A3B8"/>
                </a:solidFill>
                <a:latin typeface="Microsoft YaHei"/>
              </a:rPr>
              <a:t>与背景问题一一对应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703320" cy="2194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337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Microsoft YaHei"/>
              </a:rPr>
              <a:t>少轮次</a:t>
            </a:r>
          </a:p>
          <a:p>
            <a:r>
              <a:rPr sz="1300" b="0">
                <a:solidFill>
                  <a:srgbClr val="334155"/>
                </a:solidFill>
                <a:latin typeface="Microsoft YaHei"/>
              </a:rPr>
              <a:t>映射命中时业务调用 1 Loop，无需先查全量已安装列表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188720"/>
            <a:ext cx="3703320" cy="2194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508760"/>
            <a:ext cx="3337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Microsoft YaHei"/>
              </a:rPr>
              <a:t>消幻觉</a:t>
            </a:r>
          </a:p>
          <a:p>
            <a:r>
              <a:rPr sz="1300" b="0">
                <a:solidFill>
                  <a:srgbClr val="334155"/>
                </a:solidFill>
                <a:latin typeface="Microsoft YaHei"/>
              </a:rPr>
              <a:t>真实包名/URI 来自词典或工作记忆，模型不编造真值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703320" cy="2194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08760"/>
            <a:ext cx="3337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Microsoft YaHei"/>
              </a:rPr>
              <a:t>少抄错</a:t>
            </a:r>
          </a:p>
          <a:p>
            <a:r>
              <a:rPr sz="1300" b="0">
                <a:solidFill>
                  <a:srgbClr val="334155"/>
                </a:solidFill>
                <a:latin typeface="Microsoft YaHei"/>
              </a:rPr>
              <a:t>短占位符替代长串复述，降低截断改写；节约 Token/时延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657600"/>
            <a:ext cx="3703320" cy="2194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3337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Microsoft YaHei"/>
              </a:rPr>
              <a:t>零改工具</a:t>
            </a:r>
          </a:p>
          <a:p>
            <a:r>
              <a:rPr sz="1300" b="0">
                <a:solidFill>
                  <a:srgbClr val="334155"/>
                </a:solidFill>
                <a:latin typeface="Microsoft YaHei"/>
              </a:rPr>
              <a:t>统一入口拦截，同类参数工具自动全覆盖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657600"/>
            <a:ext cx="3703320" cy="2194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977639"/>
            <a:ext cx="3337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Microsoft YaHei"/>
              </a:rPr>
              <a:t>可恢复</a:t>
            </a:r>
          </a:p>
          <a:p>
            <a:r>
              <a:rPr sz="1300" b="0">
                <a:solidFill>
                  <a:srgbClr val="334155"/>
                </a:solidFill>
                <a:latin typeface="Microsoft YaHei"/>
              </a:rPr>
              <a:t>失败短路 + 查询兜底刷新后重试，避免错误字面量进工具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专利 IDEA ｜ 一种面向智能体工具链的参数引用解析机制 ｜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YaHei"/>
              </a:rPr>
              <a:t>06  取证方法</a:t>
            </a:r>
          </a:p>
          <a:p>
            <a:r>
              <a:rPr sz="1100" b="0">
                <a:solidFill>
                  <a:srgbClr val="94A3B8"/>
                </a:solidFill>
                <a:latin typeface="Microsoft YaHei"/>
              </a:rPr>
              <a:t>证明友商产品落入保护点；效果表象不能单独作最终证明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560320" cy="8229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Microsoft YaHei"/>
              </a:rPr>
              <a:t>引用态→真值态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005840"/>
            <a:ext cx="8686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20700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Microsoft YaHei"/>
              </a:rPr>
              <a:t>对比模型侧 arguments 含 ${…}，实际打到业务接口已是真包名/URI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965960"/>
            <a:ext cx="2560320" cy="8229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Microsoft YaHei"/>
              </a:rPr>
              <a:t>框架统一处理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965960"/>
            <a:ext cx="8686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1671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Microsoft YaHei"/>
              </a:rPr>
              <a:t>多个不同工具均呈同一「引用入参→执行前变真值」模式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926080"/>
            <a:ext cx="2560320" cy="8229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Microsoft YaHei"/>
              </a:rPr>
              <a:t>别名归一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2926080"/>
            <a:ext cx="8686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12724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Microsoft YaHei"/>
              </a:rPr>
              <a:t>「抖音」「douyin」首轮不查列表仍落到同一真实包名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886200"/>
            <a:ext cx="2560320" cy="8229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Microsoft YaHei"/>
              </a:rPr>
              <a:t>结果引用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3886200"/>
            <a:ext cx="8686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408736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Microsoft YaHei"/>
              </a:rPr>
              <a:t>下一工具实参等于上一工具返回真值，模型参数未见完整抄写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846320"/>
            <a:ext cx="2560320" cy="8229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074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Microsoft YaHei"/>
              </a:rPr>
              <a:t>失败不透传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3240" y="4846320"/>
            <a:ext cx="8686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504748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Microsoft YaHei"/>
              </a:rPr>
              <a:t>故意非法引用时，工具侧收不到含 ${ 的包名/地址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专利 IDEA ｜ 一种面向智能体工具链的参数引用解析机制 ｜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YaHei"/>
              </a:rPr>
              <a:t>07  专利检索与区别分析</a:t>
            </a:r>
          </a:p>
          <a:p>
            <a:r>
              <a:rPr sz="1100" b="0">
                <a:solidFill>
                  <a:srgbClr val="94A3B8"/>
                </a:solidFill>
                <a:latin typeface="Microsoft YaHei"/>
              </a:rPr>
              <a:t>区别须落在保护点，功能和效果差异不算专利区别点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11384280" cy="1371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2400E"/>
                </a:solidFill>
                <a:latin typeface="Microsoft YaHei"/>
              </a:rPr>
              <a:t>检索关键词（通用表述）</a:t>
            </a:r>
          </a:p>
          <a:p>
            <a:r>
              <a:rPr sz="1100" b="0">
                <a:solidFill>
                  <a:srgbClr val="334155"/>
                </a:solidFill>
                <a:latin typeface="Microsoft YaHei"/>
              </a:rPr>
              <a:t>大模型/智能体/工具调用 + 参数 + 占位符/引用/回填 + 执行前/拦截；英文：LLM agent tool calling parameter placeholder resolve before invoke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560320"/>
            <a:ext cx="5669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Microsoft YaHei"/>
              </a:rPr>
              <a:t>相近文献1：CN120763321A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• 相近：任务模板占位符由意图信息填充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• 区别：本发明是工具实参中的引用 + 执行前拦截回填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• 区别：双协议（结果引用∪语义三段式）+ 双表消歧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• 区别：失败禁止占位符透传工具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60320"/>
            <a:ext cx="55321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5166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Microsoft YaHei"/>
              </a:rPr>
              <a:t>相近公开：密钥/凭证引用注入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• 相近：执行前将引用解析为真值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• 区别：对象是业务参数而非密钥；模型仍填参数位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• 区别：填的是业务引用意图（应用名/结果字段）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icrosoft YaHei"/>
              </a:rPr>
              <a:t>• 区别：目标为消幻觉、少轮次、工具零改覆盖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专利 IDEA ｜ 一种面向智能体工具链的参数引用解析机制 ｜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YaHei"/>
              </a:rPr>
              <a:t>08  摘要与待办</a:t>
            </a:r>
          </a:p>
          <a:p>
            <a:r>
              <a:rPr sz="1100" b="0">
                <a:solidFill>
                  <a:srgbClr val="94A3B8"/>
                </a:solidFill>
                <a:latin typeface="Microsoft YaHei"/>
              </a:rPr>
              <a:t>可直接用于 IDEA 摘要栏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1384280" cy="32918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Microsoft YaHei"/>
              </a:rPr>
              <a:t>摘要</a:t>
            </a:r>
          </a:p>
          <a:p>
            <a:r>
              <a:rPr sz="1200" b="0">
                <a:solidFill>
                  <a:srgbClr val="334155"/>
                </a:solidFill>
                <a:latin typeface="Microsoft YaHei"/>
              </a:rPr>
              <a:t>本发明公开一种面向智能体工具链的参数引用解析机制。大模型在工具入参中输出统一引用占位符，而不直接生成易幻觉或易抄错的真实标识；工具调度框架在执行前通过统一拦截器解析占位符，分别从会话工作记忆（结果引用）和语义词典（命名空间.实体.属性，经同义词归一与属性映射）查表回填真值后再调用工具，解析失败则短路且不透传字面量。从而在工具零改动前提下，降低多轮查询与长值照抄成本，结构性抑制包名等弱语义标识的幻觉，并适用于跨工具传参与端侧应用操控等场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526280"/>
            <a:ext cx="11384280" cy="17373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2400E"/>
                </a:solidFill>
                <a:latin typeface="Microsoft YaHei"/>
              </a:rPr>
              <a:t>发明人待办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确认未对外发布/未对三方披露；填写产品名与内部案号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按智慧芽指导完成正式检索并替换对比文献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icrosoft YaHei"/>
              </a:rPr>
              <a:t>• 代理人布局权利要求；补绘正式附图后提交电子流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</a:rPr>
              <a:t>专利 IDEA ｜ 一种面向智能体工具链的参数引用解析机制 ｜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