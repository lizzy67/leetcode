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6949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115E59"/>
                </a:solidFill>
                <a:latin typeface="Microsoft YaHei"/>
              </a:rPr>
              <a:t>智能体工具参数引用方案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75488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80" b="0">
                <a:solidFill>
                  <a:srgbClr val="60706A"/>
                </a:solidFill>
                <a:latin typeface="Microsoft YaHei"/>
              </a:rPr>
              <a:t>模型表达“引用谁” · Runtime负责“取真值、做转换、再调用” · 工具零改动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26679" y="228600"/>
            <a:ext cx="4114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19" b="0">
                <a:solidFill>
                  <a:srgbClr val="60706A"/>
                </a:solidFill>
                <a:latin typeface="Microsoft YaHei"/>
              </a:rPr>
              <a:t>结果引用  ${resultId.path}    语义引用  ${namespace.entity.attribute}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49808"/>
            <a:ext cx="11548872" cy="365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896112"/>
            <a:ext cx="3429000" cy="987552"/>
          </a:xfrm>
          <a:prstGeom prst="roundRect">
            <a:avLst/>
          </a:prstGeom>
          <a:solidFill>
            <a:srgbClr val="ECF8F4"/>
          </a:solidFill>
          <a:ln w="12700">
            <a:solidFill>
              <a:srgbClr val="CF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969264"/>
            <a:ext cx="3209544" cy="8412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1">
                <a:solidFill>
                  <a:srgbClr val="115E59"/>
                </a:solidFill>
                <a:latin typeface="Microsoft YaHei"/>
              </a:rPr>
              <a:t>为什么需要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15231F"/>
                </a:solidFill>
                <a:latin typeface="Microsoft YaHei"/>
              </a:rPr>
              <a:t>• 长URI/列表照抄：Token高、易截断改写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15231F"/>
                </a:solidFill>
                <a:latin typeface="Microsoft YaHei"/>
              </a:rPr>
              <a:t>• 包名等弱语义标识：模型易凭记忆编造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15231F"/>
                </a:solidFill>
                <a:latin typeface="Microsoft YaHei"/>
              </a:rPr>
              <a:t>• 上下游Schema不同：模型改长JSON不稳定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58768" y="896112"/>
            <a:ext cx="4572000" cy="987552"/>
          </a:xfrm>
          <a:prstGeom prst="roundRect">
            <a:avLst/>
          </a:prstGeom>
          <a:solidFill>
            <a:srgbClr val="EDF4FC"/>
          </a:solidFill>
          <a:ln w="12700">
            <a:solidFill>
              <a:srgbClr val="CF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68496" y="969264"/>
            <a:ext cx="4352544" cy="8412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1">
                <a:solidFill>
                  <a:srgbClr val="115E59"/>
                </a:solidFill>
                <a:latin typeface="Microsoft YaHei"/>
              </a:rPr>
              <a:t>核心原则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15231F"/>
                </a:solidFill>
                <a:latin typeface="Microsoft YaHei"/>
              </a:rPr>
              <a:t>• 模型只输出引用意图，业务真值来自工作记忆/语义词典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15231F"/>
                </a:solidFill>
                <a:latin typeface="Microsoft YaHei"/>
              </a:rPr>
              <a:t>• 统一Pre-call流水线：求值 → 转换 → 校验 → 调工具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15231F"/>
                </a:solidFill>
                <a:latin typeface="Microsoft YaHei"/>
              </a:rPr>
              <a:t>• 存量工具继续接收原有真实参数，对引用协议无感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0496" y="896112"/>
            <a:ext cx="3328416" cy="987552"/>
          </a:xfrm>
          <a:prstGeom prst="roundRect">
            <a:avLst/>
          </a:prstGeom>
          <a:solidFill>
            <a:srgbClr val="FFF7E4"/>
          </a:solidFill>
          <a:ln w="12700">
            <a:solidFill>
              <a:srgbClr val="CF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50224" y="969264"/>
            <a:ext cx="3108960" cy="8412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1">
                <a:solidFill>
                  <a:srgbClr val="115E59"/>
                </a:solidFill>
                <a:latin typeface="Microsoft YaHei"/>
              </a:rPr>
              <a:t>可靠性底线</a:t>
            </a:r>
          </a:p>
          <a:p>
            <a:pPr>
              <a:spcAft>
                <a:spcPts val="100"/>
              </a:spcAft>
            </a:pPr>
            <a:r>
              <a:rPr sz="830" b="0">
                <a:solidFill>
                  <a:srgbClr val="15231F"/>
                </a:solidFill>
                <a:latin typeface="Microsoft YaHei"/>
              </a:rPr>
              <a:t>• 解析/映射/转换/Schema失败即短路</a:t>
            </a:r>
          </a:p>
          <a:p>
            <a:pPr>
              <a:spcAft>
                <a:spcPts val="100"/>
              </a:spcAft>
            </a:pPr>
            <a:r>
              <a:rPr sz="830" b="0">
                <a:solidFill>
                  <a:srgbClr val="15231F"/>
                </a:solidFill>
                <a:latin typeface="Microsoft YaHei"/>
              </a:rPr>
              <a:t>• 禁止引用字面量或半成品透传工具</a:t>
            </a:r>
          </a:p>
          <a:p>
            <a:pPr>
              <a:spcAft>
                <a:spcPts val="100"/>
              </a:spcAft>
            </a:pPr>
            <a:r>
              <a:rPr sz="830" b="0">
                <a:solidFill>
                  <a:srgbClr val="15231F"/>
                </a:solidFill>
                <a:latin typeface="Microsoft YaHei"/>
              </a:rPr>
              <a:t>• 权限与作用域由Runtime校验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99339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115E59"/>
                </a:solidFill>
                <a:latin typeface="Microsoft YaHei"/>
              </a:rPr>
              <a:t>完整主链路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2221992"/>
            <a:ext cx="15819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295144"/>
            <a:ext cx="14538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0" b="1">
                <a:solidFill>
                  <a:srgbClr val="115E59"/>
                </a:solidFill>
                <a:latin typeface="Microsoft YaHei"/>
              </a:rPr>
              <a:t>① 工具返回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2523744"/>
            <a:ext cx="145389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70" b="0">
                <a:solidFill>
                  <a:srgbClr val="60706A"/>
                </a:solidFill>
                <a:latin typeface="Microsoft YaHei"/>
              </a:rPr>
              <a:t>工具A产出URI、ID、列表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92808" y="2441448"/>
            <a:ext cx="16459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0F766E"/>
                </a:solidFill>
                <a:latin typeface="Microsoft YaHe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75104" y="2221992"/>
            <a:ext cx="15819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39112" y="2295144"/>
            <a:ext cx="14538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0" b="1">
                <a:solidFill>
                  <a:srgbClr val="115E59"/>
                </a:solidFill>
                <a:latin typeface="Microsoft YaHei"/>
              </a:rPr>
              <a:t>② 默认入库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39112" y="2523744"/>
            <a:ext cx="145389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70" b="0">
                <a:solidFill>
                  <a:srgbClr val="60706A"/>
                </a:solidFill>
                <a:latin typeface="Microsoft YaHei"/>
              </a:rPr>
              <a:t>写Workmemory并生成resultId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7872" y="2441448"/>
            <a:ext cx="16459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0F766E"/>
                </a:solidFill>
                <a:latin typeface="Microsoft YaHe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30168" y="2221992"/>
            <a:ext cx="15819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94176" y="2295144"/>
            <a:ext cx="14538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0" b="1">
                <a:solidFill>
                  <a:srgbClr val="115E59"/>
                </a:solidFill>
                <a:latin typeface="Microsoft YaHei"/>
              </a:rPr>
              <a:t>③ 送模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94176" y="2523744"/>
            <a:ext cx="145389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70" b="0">
                <a:solidFill>
                  <a:srgbClr val="60706A"/>
                </a:solidFill>
                <a:latin typeface="Microsoft YaHei"/>
              </a:rPr>
              <a:t>按需mask或内容+引用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02936" y="2441448"/>
            <a:ext cx="16459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0F766E"/>
                </a:solidFill>
                <a:latin typeface="Microsoft YaHe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85231" y="2221992"/>
            <a:ext cx="15819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49240" y="2295144"/>
            <a:ext cx="14538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0" b="1">
                <a:solidFill>
                  <a:srgbClr val="115E59"/>
                </a:solidFill>
                <a:latin typeface="Microsoft YaHei"/>
              </a:rPr>
              <a:t>④ 模型填引用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2523744"/>
            <a:ext cx="145389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70" b="0">
                <a:solidFill>
                  <a:srgbClr val="60706A"/>
                </a:solidFill>
                <a:latin typeface="Microsoft YaHei"/>
              </a:rPr>
              <a:t>下游参数不复述真值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441448"/>
            <a:ext cx="16459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0F766E"/>
                </a:solidFill>
                <a:latin typeface="Microsoft YaHe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0296" y="2221992"/>
            <a:ext cx="15819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04304" y="2295144"/>
            <a:ext cx="14538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0" b="1">
                <a:solidFill>
                  <a:srgbClr val="115E59"/>
                </a:solidFill>
                <a:latin typeface="Microsoft YaHei"/>
              </a:rPr>
              <a:t>⑤ 引用求值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04304" y="2523744"/>
            <a:ext cx="145389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70" b="0">
                <a:solidFill>
                  <a:srgbClr val="60706A"/>
                </a:solidFill>
                <a:latin typeface="Microsoft YaHei"/>
              </a:rPr>
              <a:t>查记忆或语义词典回填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13064" y="2441448"/>
            <a:ext cx="16459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0F766E"/>
                </a:solidFill>
                <a:latin typeface="Microsoft YaHei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95360" y="2221992"/>
            <a:ext cx="15819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59368" y="2295144"/>
            <a:ext cx="14538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0" b="1">
                <a:solidFill>
                  <a:srgbClr val="115E59"/>
                </a:solidFill>
                <a:latin typeface="Microsoft YaHei"/>
              </a:rPr>
              <a:t>⑥ 转换/校验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59368" y="2523744"/>
            <a:ext cx="145389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70" b="0">
                <a:solidFill>
                  <a:srgbClr val="60706A"/>
                </a:solidFill>
                <a:latin typeface="Microsoft YaHei"/>
              </a:rPr>
              <a:t>Policy适配结构并校验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68128" y="2441448"/>
            <a:ext cx="16459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0F766E"/>
                </a:solidFill>
                <a:latin typeface="Microsoft YaHei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250424" y="2221992"/>
            <a:ext cx="15819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14432" y="2295144"/>
            <a:ext cx="14538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0" b="1">
                <a:solidFill>
                  <a:srgbClr val="115E59"/>
                </a:solidFill>
                <a:latin typeface="Microsoft YaHei"/>
              </a:rPr>
              <a:t>⑦ 执行闭环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14432" y="2523744"/>
            <a:ext cx="145389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70" b="0">
                <a:solidFill>
                  <a:srgbClr val="60706A"/>
                </a:solidFill>
                <a:latin typeface="Microsoft YaHei"/>
              </a:rPr>
              <a:t>真值调工具B；结果再入库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0040" y="3054096"/>
            <a:ext cx="3657600" cy="1298448"/>
          </a:xfrm>
          <a:prstGeom prst="roundRect">
            <a:avLst/>
          </a:prstGeom>
          <a:solidFill>
            <a:srgbClr val="EDF4FC"/>
          </a:solidFill>
          <a:ln w="12700">
            <a:solidFill>
              <a:srgbClr val="CF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9768" y="3127248"/>
            <a:ext cx="3438144" cy="11521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1">
                <a:solidFill>
                  <a:srgbClr val="115E59"/>
                </a:solidFill>
                <a:latin typeface="Microsoft YaHei"/>
              </a:rPr>
              <a:t>两类引用 · 同一管道</a:t>
            </a:r>
          </a:p>
          <a:p>
            <a:pPr>
              <a:spcAft>
                <a:spcPts val="100"/>
              </a:spcAft>
            </a:pPr>
            <a:r>
              <a:rPr sz="869" b="1">
                <a:solidFill>
                  <a:srgbClr val="115E59"/>
                </a:solidFill>
                <a:latin typeface="Microsoft YaHei"/>
              </a:rPr>
              <a:t>A  工具结果引用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15231F"/>
                </a:solidFill>
                <a:latin typeface="Microsoft YaHei"/>
              </a:rPr>
              <a:t>${a1b2c3d4.fileUri}  →  Workmemory</a:t>
            </a:r>
          </a:p>
          <a:p>
            <a:pPr>
              <a:spcAft>
                <a:spcPts val="100"/>
              </a:spcAft>
            </a:pPr>
            <a:r>
              <a:rPr sz="869" b="1">
                <a:solidFill>
                  <a:srgbClr val="115E59"/>
                </a:solidFill>
                <a:latin typeface="Microsoft YaHei"/>
              </a:rPr>
              <a:t>B  语义实体引用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15231F"/>
                </a:solidFill>
                <a:latin typeface="Microsoft YaHei"/>
              </a:rPr>
              <a:t>${app.抖音.bundleName}  →  别名归一 + 属性映射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087368" y="3054096"/>
            <a:ext cx="3657600" cy="1298448"/>
          </a:xfrm>
          <a:prstGeom prst="roundRect">
            <a:avLst/>
          </a:prstGeom>
          <a:solidFill>
            <a:srgbClr val="FFF7E4"/>
          </a:solidFill>
          <a:ln w="12700">
            <a:solidFill>
              <a:srgbClr val="CF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97096" y="3127248"/>
            <a:ext cx="3438144" cy="11521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1">
                <a:solidFill>
                  <a:srgbClr val="115E59"/>
                </a:solidFill>
                <a:latin typeface="Microsoft YaHei"/>
              </a:rPr>
              <a:t>两种可见性</a:t>
            </a:r>
          </a:p>
          <a:p>
            <a:pPr>
              <a:spcAft>
                <a:spcPts val="100"/>
              </a:spcAft>
            </a:pPr>
            <a:r>
              <a:rPr sz="840" b="0">
                <a:solidFill>
                  <a:srgbClr val="15231F"/>
                </a:solidFill>
                <a:latin typeface="Microsoft YaHei"/>
              </a:rPr>
              <a:t>• 模型不用看值：送模前mask为引用，所见即所填</a:t>
            </a:r>
          </a:p>
          <a:p>
            <a:pPr>
              <a:spcAft>
                <a:spcPts val="100"/>
              </a:spcAft>
            </a:pPr>
            <a:r>
              <a:rPr sz="840" b="0">
                <a:solidFill>
                  <a:srgbClr val="15231F"/>
                </a:solidFill>
                <a:latin typeface="Microsoft YaHei"/>
              </a:rPr>
              <a:t>• 模型需要看值：内容/摘要供推理，入参仍写引用</a:t>
            </a:r>
          </a:p>
          <a:p>
            <a:pPr>
              <a:spcAft>
                <a:spcPts val="100"/>
              </a:spcAft>
            </a:pPr>
            <a:r>
              <a:rPr sz="800" b="1">
                <a:solidFill>
                  <a:srgbClr val="115E59"/>
                </a:solidFill>
                <a:latin typeface="Microsoft YaHei"/>
              </a:rPr>
              <a:t>约束层级：Runtime硬校验 ＞ Schema/Skill ＞ Prompt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854696" y="3054096"/>
            <a:ext cx="4014215" cy="1298448"/>
          </a:xfrm>
          <a:prstGeom prst="roundRect">
            <a:avLst/>
          </a:prstGeom>
          <a:solidFill>
            <a:srgbClr val="ECF8F4"/>
          </a:solidFill>
          <a:ln w="12700">
            <a:solidFill>
              <a:srgbClr val="CF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64423" y="3127248"/>
            <a:ext cx="3794759" cy="11521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1">
                <a:solidFill>
                  <a:srgbClr val="115E59"/>
                </a:solidFill>
                <a:latin typeface="Microsoft YaHei"/>
              </a:rPr>
              <a:t>引用后可做结构适配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15231F"/>
                </a:solidFill>
                <a:latin typeface="Microsoft YaHei"/>
              </a:rPr>
              <a:t>模型：images=${rid.merged_id_list}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15231F"/>
                </a:solidFill>
                <a:latin typeface="Microsoft YaHei"/>
              </a:rPr>
              <a:t>Resolve：[563, 728]</a:t>
            </a:r>
          </a:p>
          <a:p>
            <a:pPr>
              <a:spcAft>
                <a:spcPts val="100"/>
              </a:spcAft>
            </a:pPr>
            <a:r>
              <a:rPr sz="760" b="0">
                <a:solidFill>
                  <a:srgbClr val="15231F"/>
                </a:solidFill>
                <a:latin typeface="Microsoft YaHei"/>
              </a:rPr>
              <a:t>Transform：[{"file_id":"563"},{"file_id":"728"}]</a:t>
            </a:r>
          </a:p>
          <a:p>
            <a:pPr>
              <a:spcAft>
                <a:spcPts val="100"/>
              </a:spcAft>
            </a:pPr>
            <a:r>
              <a:rPr sz="780" b="1">
                <a:solidFill>
                  <a:srgbClr val="115E59"/>
                </a:solidFill>
                <a:latin typeface="Microsoft YaHei"/>
              </a:rPr>
              <a:t>先求值，再按目标参数Policy转换；模型/工具均不改结构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20040" y="4471416"/>
            <a:ext cx="45720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9768" y="4544568"/>
            <a:ext cx="4352544" cy="10881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1">
                <a:solidFill>
                  <a:srgbClr val="115E59"/>
                </a:solidFill>
                <a:latin typeface="Microsoft YaHei"/>
              </a:rPr>
              <a:t>关键实现约定</a:t>
            </a:r>
          </a:p>
          <a:p>
            <a:pPr>
              <a:spcAft>
                <a:spcPts val="100"/>
              </a:spcAft>
            </a:pPr>
            <a:r>
              <a:rPr sz="819" b="0">
                <a:solidFill>
                  <a:srgbClr val="15231F"/>
                </a:solidFill>
                <a:latin typeface="Microsoft YaHei"/>
              </a:rPr>
              <a:t>• 结果默认写入Workmemory；查询可兼容全量结果集 → 工具适配视图</a:t>
            </a:r>
          </a:p>
          <a:p>
            <a:pPr>
              <a:spcAft>
                <a:spcPts val="100"/>
              </a:spcAft>
            </a:pPr>
            <a:r>
              <a:rPr sz="819" b="0">
                <a:solidFill>
                  <a:srgbClr val="15231F"/>
                </a:solidFill>
                <a:latin typeface="Microsoft YaHei"/>
              </a:rPr>
              <a:t>• resultId为模型侧短标识；内部toolCallId继续用于追踪</a:t>
            </a:r>
          </a:p>
          <a:p>
            <a:pPr>
              <a:spcAft>
                <a:spcPts val="100"/>
              </a:spcAft>
            </a:pPr>
            <a:r>
              <a:rPr sz="819" b="0">
                <a:solidFill>
                  <a:srgbClr val="15231F"/>
                </a:solidFill>
                <a:latin typeface="Microsoft YaHei"/>
              </a:rPr>
              <a:t>• 通用mask字段（fileUri/fileId等）支持工具级覆盖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01768" y="4471416"/>
            <a:ext cx="3154680" cy="1234440"/>
          </a:xfrm>
          <a:prstGeom prst="roundRect">
            <a:avLst/>
          </a:prstGeom>
          <a:solidFill>
            <a:srgbClr val="ECF8F4"/>
          </a:solidFill>
          <a:ln w="12700">
            <a:solidFill>
              <a:srgbClr val="CF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11496" y="4544568"/>
            <a:ext cx="2935224" cy="10881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1">
                <a:solidFill>
                  <a:srgbClr val="115E59"/>
                </a:solidFill>
                <a:latin typeface="Microsoft YaHei"/>
              </a:rPr>
              <a:t>核心收益</a:t>
            </a:r>
          </a:p>
          <a:p>
            <a:pPr>
              <a:spcAft>
                <a:spcPts val="100"/>
              </a:spcAft>
            </a:pPr>
            <a:r>
              <a:rPr sz="830" b="0">
                <a:solidFill>
                  <a:srgbClr val="15231F"/>
                </a:solidFill>
                <a:latin typeface="Microsoft YaHei"/>
              </a:rPr>
              <a:t>• 降Input Token与串行时延</a:t>
            </a:r>
          </a:p>
          <a:p>
            <a:pPr>
              <a:spcAft>
                <a:spcPts val="100"/>
              </a:spcAft>
            </a:pPr>
            <a:r>
              <a:rPr sz="830" b="0">
                <a:solidFill>
                  <a:srgbClr val="15231F"/>
                </a:solidFill>
                <a:latin typeface="Microsoft YaHei"/>
              </a:rPr>
              <a:t>• 减少长值抄错和业务标识幻觉</a:t>
            </a:r>
          </a:p>
          <a:p>
            <a:pPr>
              <a:spcAft>
                <a:spcPts val="100"/>
              </a:spcAft>
            </a:pPr>
            <a:r>
              <a:rPr sz="830" b="0">
                <a:solidFill>
                  <a:srgbClr val="15231F"/>
                </a:solidFill>
                <a:latin typeface="Microsoft YaHei"/>
              </a:rPr>
              <a:t>• 热路径少一次查询Loop；工具零改动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266175" y="4471416"/>
            <a:ext cx="3602736" cy="1234440"/>
          </a:xfrm>
          <a:prstGeom prst="roundRect">
            <a:avLst/>
          </a:prstGeom>
          <a:solidFill>
            <a:srgbClr val="FFF0F3"/>
          </a:solidFill>
          <a:ln w="12700">
            <a:solidFill>
              <a:srgbClr val="CF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75903" y="4544568"/>
            <a:ext cx="3383280" cy="10881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1">
                <a:solidFill>
                  <a:srgbClr val="115E59"/>
                </a:solidFill>
                <a:latin typeface="Microsoft YaHei"/>
              </a:rPr>
              <a:t>边界与兜底</a:t>
            </a:r>
          </a:p>
          <a:p>
            <a:pPr>
              <a:spcAft>
                <a:spcPts val="100"/>
              </a:spcAft>
            </a:pPr>
            <a:r>
              <a:rPr sz="819" b="0">
                <a:solidFill>
                  <a:srgbClr val="15231F"/>
                </a:solidFill>
                <a:latin typeface="Microsoft YaHei"/>
              </a:rPr>
              <a:t>• 多候选不静默猜：返回候选/动态枚举</a:t>
            </a:r>
          </a:p>
          <a:p>
            <a:pPr>
              <a:spcAft>
                <a:spcPts val="100"/>
              </a:spcAft>
            </a:pPr>
            <a:r>
              <a:rPr sz="819" b="0">
                <a:solidFill>
                  <a:srgbClr val="15231F"/>
                </a:solidFill>
                <a:latin typeface="Microsoft YaHei"/>
              </a:rPr>
              <a:t>• 未命中可查询并在确认后刷新映射</a:t>
            </a:r>
          </a:p>
          <a:p>
            <a:pPr>
              <a:spcAft>
                <a:spcPts val="100"/>
              </a:spcAft>
            </a:pPr>
            <a:r>
              <a:rPr sz="819" b="0">
                <a:solidFill>
                  <a:srgbClr val="15231F"/>
                </a:solidFill>
                <a:latin typeface="Microsoft YaHei"/>
              </a:rPr>
              <a:t>• 并行链路必须显式引用，不用含糊“上一条”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5925312"/>
            <a:ext cx="8869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30" b="1">
                <a:solidFill>
                  <a:srgbClr val="115E59"/>
                </a:solidFill>
                <a:latin typeface="Microsoft YaHei"/>
              </a:rPr>
              <a:t>一句话：模型只决定“引用哪个对象/结果”，Runtime保证“真实、适配、合法”后再执行。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06840" y="5925312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80" b="0">
                <a:solidFill>
                  <a:srgbClr val="60706A"/>
                </a:solidFill>
                <a:latin typeface="Microsoft YaHei"/>
              </a:rPr>
              <a:t>Reference → Resolve → Transform → Validate → Invoke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5824728"/>
            <a:ext cx="11548872" cy="13716"/>
          </a:xfrm>
          <a:prstGeom prst="rect">
            <a:avLst/>
          </a:prstGeom>
          <a:solidFill>
            <a:srgbClr val="CF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