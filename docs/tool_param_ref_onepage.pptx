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115E59"/>
                </a:solidFill>
                <a:latin typeface="Microsoft YaHei"/>
              </a:rPr>
              <a:t>智能体工具参数引用方案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01168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40" b="0">
                <a:solidFill>
                  <a:srgbClr val="60706A"/>
                </a:solidFill>
                <a:latin typeface="Microsoft YaHei"/>
              </a:rPr>
              <a:t>结果引用 ${resultId.path}    语义引用 ${namespace.entity.attribute}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512064"/>
            <a:ext cx="11548872" cy="32004"/>
          </a:xfrm>
          <a:prstGeom prst="rect">
            <a:avLst/>
          </a:prstGeom>
          <a:solidFill>
            <a:srgbClr val="0F766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" y="640080"/>
            <a:ext cx="5623560" cy="1024128"/>
          </a:xfrm>
          <a:prstGeom prst="roundRect">
            <a:avLst/>
          </a:prstGeom>
          <a:solidFill>
            <a:srgbClr val="FFF0F3"/>
          </a:solidFill>
          <a:ln w="12700">
            <a:solidFill>
              <a:srgbClr val="E7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694944"/>
            <a:ext cx="5440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8B3144"/>
                </a:solidFill>
                <a:latin typeface="Microsoft YaHei"/>
              </a:rPr>
              <a:t>问题：模型直接生成业务真值不可靠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15231F"/>
                </a:solidFill>
                <a:latin typeface="Microsoft YaHei"/>
              </a:rPr>
              <a:t>• 抄不准：长URI/列表照抄易截断改写，Token高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15231F"/>
                </a:solidFill>
                <a:latin typeface="Microsoft YaHei"/>
              </a:rPr>
              <a:t>• 会编造：包名等弱语义标识凭记忆幻觉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15231F"/>
                </a:solidFill>
                <a:latin typeface="Microsoft YaHei"/>
              </a:rPr>
              <a:t>• 改不动：上下游Schema不同，改长JSON不稳、改工具成本高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1888" y="987552"/>
            <a:ext cx="310896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  <a:latin typeface="Microsoft YaHe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91072" y="640080"/>
            <a:ext cx="5577840" cy="1024128"/>
          </a:xfrm>
          <a:prstGeom prst="roundRect">
            <a:avLst/>
          </a:prstGeom>
          <a:solidFill>
            <a:srgbClr val="ECF8F4"/>
          </a:solidFill>
          <a:ln w="12700">
            <a:solidFill>
              <a:srgbClr val="BC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694944"/>
            <a:ext cx="5394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115E59"/>
                </a:solidFill>
                <a:latin typeface="Microsoft YaHei"/>
              </a:rPr>
              <a:t>核心思路：职责分离</a:t>
            </a:r>
          </a:p>
          <a:p>
            <a:pPr>
              <a:spcAft>
                <a:spcPts val="100"/>
              </a:spcAft>
            </a:pPr>
            <a:r>
              <a:rPr sz="880" b="1">
                <a:solidFill>
                  <a:srgbClr val="15231F"/>
                </a:solidFill>
                <a:latin typeface="Microsoft YaHei"/>
              </a:rPr>
              <a:t>模型只表达“引用谁”，Runtime负责“取真值、做适配、保合法”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15231F"/>
                </a:solidFill>
                <a:latin typeface="Microsoft YaHei"/>
              </a:rPr>
              <a:t>• 真值只来自可信数据源（工作记忆 / 语义词典）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15231F"/>
                </a:solidFill>
                <a:latin typeface="Microsoft YaHei"/>
              </a:rPr>
              <a:t>• 全部处理收敛在工具执行前统一入口，工具零改动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1773936"/>
            <a:ext cx="11548872" cy="1481328"/>
          </a:xfrm>
          <a:prstGeom prst="roundRect">
            <a:avLst/>
          </a:prstGeom>
          <a:solidFill>
            <a:srgbClr val="F5FBF8"/>
          </a:solidFill>
          <a:ln w="1524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182880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115E59"/>
                </a:solidFill>
                <a:latin typeface="Microsoft YaHei"/>
              </a:rPr>
              <a:t>主链路：Reference → Resolve → Invoke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2084831"/>
            <a:ext cx="3200400" cy="1097280"/>
          </a:xfrm>
          <a:prstGeom prst="roundRect">
            <a:avLst/>
          </a:prstGeom>
          <a:solidFill>
            <a:srgbClr val="EDF4FC"/>
          </a:solidFill>
          <a:ln w="12700">
            <a:solidFill>
              <a:srgbClr val="ED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2112263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40" b="1">
                <a:solidFill>
                  <a:srgbClr val="1D4F91"/>
                </a:solidFill>
                <a:latin typeface="Microsoft YaHei"/>
              </a:rPr>
              <a:t>Ⅰ 引用表达（模型侧）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21608" y="2084831"/>
            <a:ext cx="3200400" cy="1097280"/>
          </a:xfrm>
          <a:prstGeom prst="roundRect">
            <a:avLst/>
          </a:prstGeom>
          <a:solidFill>
            <a:srgbClr val="FFF7E4"/>
          </a:solidFill>
          <a:ln w="12700">
            <a:solidFill>
              <a:srgbClr val="FFF7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1608" y="2112263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40" b="1">
                <a:solidFill>
                  <a:srgbClr val="8A5A00"/>
                </a:solidFill>
                <a:latin typeface="Microsoft YaHei"/>
              </a:rPr>
              <a:t>Ⅱ 求值与适配（Runtime侧）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13448" y="2084831"/>
            <a:ext cx="4754880" cy="1097280"/>
          </a:xfrm>
          <a:prstGeom prst="roundRect">
            <a:avLst/>
          </a:prstGeom>
          <a:solidFill>
            <a:srgbClr val="ECF8F4"/>
          </a:solidFill>
          <a:ln w="12700">
            <a:solidFill>
              <a:srgbClr val="EC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13448" y="2112263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40" b="1">
                <a:solidFill>
                  <a:srgbClr val="115E59"/>
                </a:solidFill>
                <a:latin typeface="Microsoft YaHei"/>
              </a:rPr>
              <a:t>Ⅲ 校验与执行（工具侧）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" y="2331720"/>
            <a:ext cx="148132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37743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19" b="1">
                <a:solidFill>
                  <a:srgbClr val="115E59"/>
                </a:solidFill>
                <a:latin typeface="Microsoft YaHei"/>
              </a:rPr>
              <a:t>① 结果入库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2578608"/>
            <a:ext cx="137160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40" b="0">
                <a:solidFill>
                  <a:srgbClr val="60706A"/>
                </a:solidFill>
                <a:latin typeface="Microsoft YaHei"/>
              </a:rPr>
              <a:t>工具A返回，写工作记忆并生成resultId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56816" y="2596896"/>
            <a:ext cx="1828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F766E"/>
                </a:solidFill>
                <a:latin typeface="Microsoft YaHe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66543" y="2331720"/>
            <a:ext cx="148132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21408" y="237743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19" b="1">
                <a:solidFill>
                  <a:srgbClr val="115E59"/>
                </a:solidFill>
                <a:latin typeface="Microsoft YaHei"/>
              </a:rPr>
              <a:t>② 送模呈现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21408" y="2578608"/>
            <a:ext cx="137160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40" b="0">
                <a:solidFill>
                  <a:srgbClr val="60706A"/>
                </a:solidFill>
                <a:latin typeface="Microsoft YaHei"/>
              </a:rPr>
              <a:t>指针字段mask；要推理的留内容+引用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9584" y="2596896"/>
            <a:ext cx="1828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F766E"/>
                </a:solidFill>
                <a:latin typeface="Microsoft YaHe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85616" y="2331720"/>
            <a:ext cx="148132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0" y="237743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19" b="1">
                <a:solidFill>
                  <a:srgbClr val="115E59"/>
                </a:solidFill>
                <a:latin typeface="Microsoft YaHei"/>
              </a:rPr>
              <a:t>③ 模型填引用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2578608"/>
            <a:ext cx="137160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40" b="0">
                <a:solidFill>
                  <a:srgbClr val="60706A"/>
                </a:solidFill>
                <a:latin typeface="Microsoft YaHei"/>
              </a:rPr>
              <a:t>下游入参写${…}，不复述真值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48656" y="2596896"/>
            <a:ext cx="1828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F766E"/>
                </a:solidFill>
                <a:latin typeface="Microsoft YaHe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58384" y="2331720"/>
            <a:ext cx="148132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13248" y="237743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19" b="1">
                <a:solidFill>
                  <a:srgbClr val="115E59"/>
                </a:solidFill>
                <a:latin typeface="Microsoft YaHei"/>
              </a:rPr>
              <a:t>④ 引用求值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3248" y="2578608"/>
            <a:ext cx="137160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40" b="0">
                <a:solidFill>
                  <a:srgbClr val="60706A"/>
                </a:solidFill>
                <a:latin typeface="Microsoft YaHei"/>
              </a:rPr>
              <a:t>查记忆/词典，回填真值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1424" y="2596896"/>
            <a:ext cx="1828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F766E"/>
                </a:solidFill>
                <a:latin typeface="Microsoft YaHei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077456" y="2331720"/>
            <a:ext cx="148132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0" y="237743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19" b="1">
                <a:solidFill>
                  <a:srgbClr val="115E59"/>
                </a:solidFill>
                <a:latin typeface="Microsoft YaHei"/>
              </a:rPr>
              <a:t>⑤ 结构适配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0" y="2578608"/>
            <a:ext cx="137160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40" b="0">
                <a:solidFill>
                  <a:srgbClr val="60706A"/>
                </a:solidFill>
                <a:latin typeface="Microsoft YaHei"/>
              </a:rPr>
              <a:t>按参数Policy转换（可选）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2596896"/>
            <a:ext cx="1828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F766E"/>
                </a:solidFill>
                <a:latin typeface="Microsoft YaHe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31936" y="2331720"/>
            <a:ext cx="148132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37743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19" b="1">
                <a:solidFill>
                  <a:srgbClr val="115E59"/>
                </a:solidFill>
                <a:latin typeface="Microsoft YaHei"/>
              </a:rPr>
              <a:t>⑥ 校验/短路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2578608"/>
            <a:ext cx="137160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40" b="0">
                <a:solidFill>
                  <a:srgbClr val="60706A"/>
                </a:solidFill>
                <a:latin typeface="Microsoft YaHei"/>
              </a:rPr>
              <a:t>Schema与权限校验；失败不透传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94976" y="2596896"/>
            <a:ext cx="1828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F766E"/>
                </a:solidFill>
                <a:latin typeface="Microsoft YaHei"/>
              </a:rPr>
              <a:t>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186416" y="2331720"/>
            <a:ext cx="148132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41280" y="237743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19" b="1">
                <a:solidFill>
                  <a:srgbClr val="115E59"/>
                </a:solidFill>
                <a:latin typeface="Microsoft YaHei"/>
              </a:rPr>
              <a:t>⑦ 执行闭环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2578608"/>
            <a:ext cx="137160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40" b="0">
                <a:solidFill>
                  <a:srgbClr val="60706A"/>
                </a:solidFill>
                <a:latin typeface="Microsoft YaHei"/>
              </a:rPr>
              <a:t>真值调工具B；结果再入库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0040" y="3364992"/>
            <a:ext cx="3246120" cy="2011680"/>
          </a:xfrm>
          <a:prstGeom prst="roundRect">
            <a:avLst/>
          </a:prstGeom>
          <a:solidFill>
            <a:srgbClr val="EDF4FC"/>
          </a:solidFill>
          <a:ln w="12700">
            <a:solidFill>
              <a:srgbClr val="BED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8" y="3419856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D4F91"/>
                </a:solidFill>
                <a:latin typeface="Microsoft YaHei"/>
              </a:rPr>
              <a:t>支柱Ⅰ：引用怎么写</a:t>
            </a:r>
          </a:p>
          <a:p>
            <a:pPr>
              <a:spcAft>
                <a:spcPts val="0"/>
              </a:spcAft>
            </a:pPr>
            <a:r>
              <a:rPr sz="840" b="1">
                <a:solidFill>
                  <a:srgbClr val="15231F"/>
                </a:solidFill>
                <a:latin typeface="Microsoft YaHei"/>
              </a:rPr>
              <a:t>两类引用，同一管道</a:t>
            </a:r>
          </a:p>
          <a:p>
            <a:pPr>
              <a:spcAft>
                <a:spcPts val="100"/>
              </a:spcAft>
            </a:pPr>
            <a:r>
              <a:rPr sz="780" b="0">
                <a:solidFill>
                  <a:srgbClr val="15231F"/>
                </a:solidFill>
                <a:latin typeface="Microsoft YaHei"/>
              </a:rPr>
              <a:t>• 结果引用 ${a1b2c3d4.fileUri} → 工作记忆</a:t>
            </a:r>
          </a:p>
          <a:p>
            <a:pPr>
              <a:spcAft>
                <a:spcPts val="100"/>
              </a:spcAft>
            </a:pPr>
            <a:r>
              <a:rPr sz="780" b="0">
                <a:solidFill>
                  <a:srgbClr val="15231F"/>
                </a:solidFill>
                <a:latin typeface="Microsoft YaHei"/>
              </a:rPr>
              <a:t>• 语义引用 ${app.抖音.bundleName} → 词典</a:t>
            </a:r>
          </a:p>
          <a:p>
            <a:pPr>
              <a:spcAft>
                <a:spcPts val="0"/>
              </a:spcAft>
            </a:pPr>
            <a:r>
              <a:rPr sz="840" b="1">
                <a:solidFill>
                  <a:srgbClr val="15231F"/>
                </a:solidFill>
                <a:latin typeface="Microsoft YaHei"/>
              </a:rPr>
              <a:t>两种可见性</a:t>
            </a:r>
          </a:p>
          <a:p>
            <a:pPr>
              <a:spcAft>
                <a:spcPts val="100"/>
              </a:spcAft>
            </a:pPr>
            <a:r>
              <a:rPr sz="780" b="0">
                <a:solidFill>
                  <a:srgbClr val="15231F"/>
                </a:solidFill>
                <a:latin typeface="Microsoft YaHei"/>
              </a:rPr>
              <a:t>• 不用看值：mask后所见即所填</a:t>
            </a:r>
          </a:p>
          <a:p>
            <a:pPr>
              <a:spcAft>
                <a:spcPts val="100"/>
              </a:spcAft>
            </a:pPr>
            <a:r>
              <a:rPr sz="780" b="0">
                <a:solidFill>
                  <a:srgbClr val="15231F"/>
                </a:solidFill>
                <a:latin typeface="Microsoft YaHei"/>
              </a:rPr>
              <a:t>• 需要看值：内容供推理，入参仍写引用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0" y="3364992"/>
            <a:ext cx="3840480" cy="2011680"/>
          </a:xfrm>
          <a:prstGeom prst="roundRect">
            <a:avLst/>
          </a:prstGeom>
          <a:solidFill>
            <a:srgbClr val="FFF7E4"/>
          </a:solidFill>
          <a:ln w="12700">
            <a:solidFill>
              <a:srgbClr val="EBD7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767328" y="3419856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8A5A00"/>
                </a:solidFill>
                <a:latin typeface="Microsoft YaHei"/>
              </a:rPr>
              <a:t>支柱Ⅱ：真值怎么来</a:t>
            </a:r>
          </a:p>
          <a:p>
            <a:pPr>
              <a:spcAft>
                <a:spcPts val="0"/>
              </a:spcAft>
            </a:pPr>
            <a:r>
              <a:rPr sz="840" b="1">
                <a:solidFill>
                  <a:srgbClr val="15231F"/>
                </a:solidFill>
                <a:latin typeface="Microsoft YaHei"/>
              </a:rPr>
              <a:t>可信数据源</a:t>
            </a:r>
          </a:p>
          <a:p>
            <a:pPr>
              <a:spcAft>
                <a:spcPts val="100"/>
              </a:spcAft>
            </a:pPr>
            <a:r>
              <a:rPr sz="780" b="0">
                <a:solidFill>
                  <a:srgbClr val="15231F"/>
                </a:solidFill>
                <a:latin typeface="Microsoft YaHei"/>
              </a:rPr>
              <a:t>• 工作记忆：全量结果集 → 工具适配视图</a:t>
            </a:r>
          </a:p>
          <a:p>
            <a:pPr>
              <a:spcAft>
                <a:spcPts val="100"/>
              </a:spcAft>
            </a:pPr>
            <a:r>
              <a:rPr sz="780" b="0">
                <a:solidFill>
                  <a:srgbClr val="15231F"/>
                </a:solidFill>
                <a:latin typeface="Microsoft YaHei"/>
              </a:rPr>
              <a:t>• 语义词典：别名归一表 + 实体属性映射表</a:t>
            </a:r>
          </a:p>
          <a:p>
            <a:pPr>
              <a:spcAft>
                <a:spcPts val="0"/>
              </a:spcAft>
            </a:pPr>
            <a:r>
              <a:rPr sz="840" b="1">
                <a:solidFill>
                  <a:srgbClr val="15231F"/>
                </a:solidFill>
                <a:latin typeface="Microsoft YaHei"/>
              </a:rPr>
              <a:t>结构适配（Policy）</a:t>
            </a:r>
          </a:p>
          <a:p>
            <a:pPr>
              <a:spcAft>
                <a:spcPts val="100"/>
              </a:spcAft>
            </a:pPr>
            <a:r>
              <a:rPr sz="780" b="0">
                <a:solidFill>
                  <a:srgbClr val="15231F"/>
                </a:solidFill>
                <a:latin typeface="Microsoft YaHei"/>
              </a:rPr>
              <a:t>• ${rid.merged_id_list} → [563,728]</a:t>
            </a:r>
          </a:p>
          <a:p>
            <a:pPr>
              <a:spcAft>
                <a:spcPts val="100"/>
              </a:spcAft>
            </a:pPr>
            <a:r>
              <a:rPr sz="780" b="0">
                <a:solidFill>
                  <a:srgbClr val="15231F"/>
                </a:solidFill>
                <a:latin typeface="Microsoft YaHei"/>
              </a:rPr>
              <a:t>• → [{"file_id":"563"}, {"file_id":"728"}]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589520" y="3364992"/>
            <a:ext cx="4279392" cy="2011680"/>
          </a:xfrm>
          <a:prstGeom prst="roundRect">
            <a:avLst/>
          </a:prstGeom>
          <a:solidFill>
            <a:srgbClr val="FFF0F3"/>
          </a:solidFill>
          <a:ln w="12700">
            <a:solidFill>
              <a:srgbClr val="E7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99248" y="3419856"/>
            <a:ext cx="40965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8B3144"/>
                </a:solidFill>
                <a:latin typeface="Microsoft YaHei"/>
              </a:rPr>
              <a:t>支柱Ⅲ：错误怎么兜</a:t>
            </a:r>
          </a:p>
          <a:p>
            <a:pPr>
              <a:spcAft>
                <a:spcPts val="0"/>
              </a:spcAft>
            </a:pPr>
            <a:r>
              <a:rPr sz="840" b="1">
                <a:solidFill>
                  <a:srgbClr val="15231F"/>
                </a:solidFill>
                <a:latin typeface="Microsoft YaHei"/>
              </a:rPr>
              <a:t>硬约束（Runtime）</a:t>
            </a:r>
          </a:p>
          <a:p>
            <a:pPr>
              <a:spcAft>
                <a:spcPts val="100"/>
              </a:spcAft>
            </a:pPr>
            <a:r>
              <a:rPr sz="780" b="0">
                <a:solidFill>
                  <a:srgbClr val="15231F"/>
                </a:solidFill>
                <a:latin typeface="Microsoft YaHei"/>
              </a:rPr>
              <a:t>• 解析/映射/转换/Schema失败即短路，禁止${…}透传</a:t>
            </a:r>
          </a:p>
          <a:p>
            <a:pPr>
              <a:spcAft>
                <a:spcPts val="100"/>
              </a:spcAft>
            </a:pPr>
            <a:r>
              <a:rPr sz="780" b="0">
                <a:solidFill>
                  <a:srgbClr val="15231F"/>
                </a:solidFill>
                <a:latin typeface="Microsoft YaHei"/>
              </a:rPr>
              <a:t>• 作用域与权限由Runtime校验，模型无权决定</a:t>
            </a:r>
          </a:p>
          <a:p>
            <a:pPr>
              <a:spcAft>
                <a:spcPts val="0"/>
              </a:spcAft>
            </a:pPr>
            <a:r>
              <a:rPr sz="840" b="1">
                <a:solidFill>
                  <a:srgbClr val="15231F"/>
                </a:solidFill>
                <a:latin typeface="Microsoft YaHei"/>
              </a:rPr>
              <a:t>可恢复（兜底）</a:t>
            </a:r>
          </a:p>
          <a:p>
            <a:pPr>
              <a:spcAft>
                <a:spcPts val="100"/>
              </a:spcAft>
            </a:pPr>
            <a:r>
              <a:rPr sz="780" b="0">
                <a:solidFill>
                  <a:srgbClr val="15231F"/>
                </a:solidFill>
                <a:latin typeface="Microsoft YaHei"/>
              </a:rPr>
              <a:t>• 多候选返回列表/动态枚举，不静默猜</a:t>
            </a:r>
          </a:p>
          <a:p>
            <a:pPr>
              <a:spcAft>
                <a:spcPts val="100"/>
              </a:spcAft>
            </a:pPr>
            <a:r>
              <a:rPr sz="780" b="0">
                <a:solidFill>
                  <a:srgbClr val="15231F"/>
                </a:solidFill>
                <a:latin typeface="Microsoft YaHei"/>
              </a:rPr>
              <a:t>• 未命中→查询工具→确认后刷新映射→重试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5504688"/>
            <a:ext cx="11548872" cy="13716"/>
          </a:xfrm>
          <a:prstGeom prst="rect">
            <a:avLst/>
          </a:prstGeom>
          <a:solidFill>
            <a:srgbClr val="CFDBD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0040" y="5596128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5E59"/>
                </a:solidFill>
                <a:latin typeface="Microsoft YaHei"/>
              </a:rPr>
              <a:t>省Token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" y="5833872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0706A"/>
                </a:solidFill>
                <a:latin typeface="Microsoft YaHei"/>
              </a:rPr>
              <a:t>长值不回灌不复述，降输入与时延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27832" y="5596128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5E59"/>
                </a:solidFill>
                <a:latin typeface="Microsoft YaHei"/>
              </a:rPr>
              <a:t>消幻觉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27832" y="5833872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0706A"/>
                </a:solidFill>
                <a:latin typeface="Microsoft YaHei"/>
              </a:rPr>
              <a:t>真值只出自查表，标识不再编造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35624" y="5596128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5E59"/>
                </a:solidFill>
                <a:latin typeface="Microsoft YaHei"/>
              </a:rPr>
              <a:t>少一轮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35624" y="5833872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0706A"/>
                </a:solidFill>
                <a:latin typeface="Microsoft YaHei"/>
              </a:rPr>
              <a:t>映射命中时业务调用1次Loop完成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43416" y="5596128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5E59"/>
                </a:solidFill>
                <a:latin typeface="Microsoft YaHei"/>
              </a:rPr>
              <a:t>零改动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43416" y="5833872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0706A"/>
                </a:solidFill>
                <a:latin typeface="Microsoft YaHei"/>
              </a:rPr>
              <a:t>框架层统一生效，存量工具无感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0040" y="6199632"/>
            <a:ext cx="115488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5E59"/>
                </a:solidFill>
                <a:latin typeface="Microsoft YaHei"/>
              </a:rPr>
              <a:t>一句话：模型决定“引用哪个对象”，Runtime保证“真实、适配、合法”后再执行。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