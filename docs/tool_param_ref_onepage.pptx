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057839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E6F66"/>
                </a:solidFill>
                <a:latin typeface="Microsoft YaHei"/>
              </a:rPr>
              <a:t>A G E N T · T O O L   C A L L I N 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4754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150" b="1">
                <a:solidFill>
                  <a:srgbClr val="1C2925"/>
                </a:solidFill>
                <a:latin typeface="Microsoft YaHei"/>
              </a:rPr>
              <a:t>工具参数引用：让模型写「引用」，让 Runtime 填「真值」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96112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50" b="0">
                <a:solidFill>
                  <a:srgbClr val="1C2925"/>
                </a:solidFill>
                <a:latin typeface="Microsoft YaHei"/>
              </a:rPr>
              <a:t>工具入参不再由模型亲手写出真实值，而是写一个引用；Runtime 在工具执行前查表求值、按需转换、校验合法，再去调用工具。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33856"/>
            <a:ext cx="106070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50" b="1">
                <a:solidFill>
                  <a:srgbClr val="0B544E"/>
                </a:solidFill>
                <a:latin typeface="Microsoft YaHei"/>
              </a:rPr>
              <a:t>真值始终出自可信数据源，存量工具一行不改。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444752"/>
            <a:ext cx="11057839" cy="20320"/>
          </a:xfrm>
          <a:prstGeom prst="rect">
            <a:avLst/>
          </a:prstGeom>
          <a:solidFill>
            <a:srgbClr val="1C29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591056"/>
            <a:ext cx="5029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E6F66"/>
                </a:solidFill>
                <a:latin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" y="1577340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1C2925"/>
                </a:solidFill>
                <a:latin typeface="Microsoft YaHei"/>
              </a:rPr>
              <a:t>为什么要做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847088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000" b="0">
                <a:solidFill>
                  <a:srgbClr val="1C2925"/>
                </a:solidFill>
                <a:latin typeface="Microsoft YaHei"/>
              </a:rPr>
              <a:t>下一个工具的参数，常来自上一个工具的结果，或「抖音」这类口语名称背后的真实标识。这些值现在都靠模型亲手写：长 URI 抄着抄着就断了；包名靠记忆，就编出了 com.douyin.app；结构不一致时还要模型改写大段 JSON。抄写、回忆、改写——三件事模型都做不稳。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395728"/>
            <a:ext cx="11057839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1">
                <a:solidFill>
                  <a:srgbClr val="1C2925"/>
                </a:solidFill>
                <a:latin typeface="Microsoft YaHei"/>
              </a:rPr>
              <a:t>抄不准 </a:t>
            </a:r>
            <a:r>
              <a:rPr sz="950" b="0">
                <a:solidFill>
                  <a:srgbClr val="6B7A74"/>
                </a:solidFill>
                <a:latin typeface="Microsoft YaHei"/>
              </a:rPr>
              <a:t>长值复述易截断改写，抬高输入Token　　</a:t>
            </a:r>
            <a:r>
              <a:rPr sz="950" b="1">
                <a:solidFill>
                  <a:srgbClr val="1C2925"/>
                </a:solidFill>
                <a:latin typeface="Microsoft YaHei"/>
              </a:rPr>
              <a:t>会编造 </a:t>
            </a:r>
            <a:r>
              <a:rPr sz="950" b="0">
                <a:solidFill>
                  <a:srgbClr val="6B7A74"/>
                </a:solidFill>
                <a:latin typeface="Microsoft YaHei"/>
              </a:rPr>
              <a:t>弱语义标识凭记忆幻觉　　</a:t>
            </a:r>
            <a:r>
              <a:rPr sz="950" b="1">
                <a:solidFill>
                  <a:srgbClr val="1C2925"/>
                </a:solidFill>
                <a:latin typeface="Microsoft YaHei"/>
              </a:rPr>
              <a:t>改不动 </a:t>
            </a:r>
            <a:r>
              <a:rPr sz="950" b="0">
                <a:solidFill>
                  <a:srgbClr val="6B7A74"/>
                </a:solidFill>
                <a:latin typeface="Microsoft YaHei"/>
              </a:rPr>
              <a:t>结构适配靠模型或逐个改工具，都不划算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2761488"/>
            <a:ext cx="5029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E6F66"/>
                </a:solidFill>
                <a:latin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" y="2747772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1C2925"/>
                </a:solidFill>
                <a:latin typeface="Microsoft YaHei"/>
              </a:rPr>
              <a:t>方案主链路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33087" y="2779776"/>
            <a:ext cx="78638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00" b="0">
                <a:solidFill>
                  <a:srgbClr val="9AA8A2"/>
                </a:solidFill>
                <a:latin typeface="Microsoft YaHei"/>
              </a:rPr>
              <a:t>Reference → Resolve → Invoke，全部发生在工具执行之前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035808"/>
            <a:ext cx="2029968" cy="27940"/>
          </a:xfrm>
          <a:prstGeom prst="rect">
            <a:avLst/>
          </a:prstGeom>
          <a:solidFill>
            <a:srgbClr val="0E6F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063239"/>
            <a:ext cx="2029968" cy="932688"/>
          </a:xfrm>
          <a:prstGeom prst="rect">
            <a:avLst/>
          </a:prstGeom>
          <a:solidFill>
            <a:srgbClr val="F4F8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127248"/>
            <a:ext cx="1847088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00" b="1">
                <a:solidFill>
                  <a:srgbClr val="9AA8A2"/>
                </a:solidFill>
                <a:latin typeface="Microsoft YaHei"/>
              </a:rPr>
              <a:t>工具 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291839"/>
            <a:ext cx="1847088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50" b="1">
                <a:solidFill>
                  <a:srgbClr val="1C2925"/>
                </a:solidFill>
                <a:latin typeface="Microsoft YaHei"/>
              </a:rPr>
              <a:t>结果入库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3493008"/>
            <a:ext cx="184708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830" b="0">
                <a:solidFill>
                  <a:srgbClr val="6B7A74"/>
                </a:solidFill>
                <a:latin typeface="Microsoft YaHei"/>
              </a:rPr>
              <a:t>返回结果写入工作记忆，得到短标识 resultId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10612" y="3383279"/>
            <a:ext cx="20116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E6F66"/>
                </a:solidFill>
                <a:latin typeface="Microsoft YaHei"/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816352" y="3035808"/>
            <a:ext cx="2029968" cy="27940"/>
          </a:xfrm>
          <a:prstGeom prst="rect">
            <a:avLst/>
          </a:prstGeom>
          <a:solidFill>
            <a:srgbClr val="0E6F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816352" y="3063239"/>
            <a:ext cx="2029968" cy="932688"/>
          </a:xfrm>
          <a:prstGeom prst="rect">
            <a:avLst/>
          </a:prstGeom>
          <a:solidFill>
            <a:srgbClr val="F4F8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07792" y="3127248"/>
            <a:ext cx="1847088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00" b="1">
                <a:solidFill>
                  <a:srgbClr val="9AA8A2"/>
                </a:solidFill>
                <a:latin typeface="Microsoft YaHei"/>
              </a:rPr>
              <a:t>Runtime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7792" y="3291839"/>
            <a:ext cx="1847088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50" b="1">
                <a:solidFill>
                  <a:srgbClr val="1C2925"/>
                </a:solidFill>
                <a:latin typeface="Microsoft YaHei"/>
              </a:rPr>
              <a:t>送模呈现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07792" y="3493008"/>
            <a:ext cx="184708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830" b="0">
                <a:solidFill>
                  <a:srgbClr val="6B7A74"/>
                </a:solidFill>
                <a:latin typeface="Microsoft YaHei"/>
              </a:rPr>
              <a:t>指针字段直接换成引用给模型；要推理的内容照常给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60036" y="3383279"/>
            <a:ext cx="20116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E6F66"/>
                </a:solidFill>
                <a:latin typeface="Microsoft YaHei"/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65776" y="3035808"/>
            <a:ext cx="2029968" cy="27940"/>
          </a:xfrm>
          <a:prstGeom prst="rect">
            <a:avLst/>
          </a:prstGeom>
          <a:solidFill>
            <a:srgbClr val="0E6F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65776" y="3063239"/>
            <a:ext cx="2029968" cy="932688"/>
          </a:xfrm>
          <a:prstGeom prst="rect">
            <a:avLst/>
          </a:prstGeom>
          <a:solidFill>
            <a:srgbClr val="F4F8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57216" y="3127248"/>
            <a:ext cx="1847088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00" b="1">
                <a:solidFill>
                  <a:srgbClr val="9AA8A2"/>
                </a:solidFill>
                <a:latin typeface="Microsoft YaHei"/>
              </a:rPr>
              <a:t>模型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57216" y="3291839"/>
            <a:ext cx="1847088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50" b="1">
                <a:solidFill>
                  <a:srgbClr val="1C2925"/>
                </a:solidFill>
                <a:latin typeface="Microsoft YaHei"/>
              </a:rPr>
              <a:t>只写引用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57216" y="3493008"/>
            <a:ext cx="184708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830" b="0">
                <a:solidFill>
                  <a:srgbClr val="6B7A74"/>
                </a:solidFill>
                <a:latin typeface="Microsoft YaHei"/>
              </a:rPr>
              <a:t>下游参数填 ${…}，不复述真值，所见即所填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09459" y="3383279"/>
            <a:ext cx="20116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E6F66"/>
                </a:solidFill>
                <a:latin typeface="Microsoft YaHei"/>
              </a:rPr>
              <a:t>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15200" y="3035808"/>
            <a:ext cx="2029968" cy="27940"/>
          </a:xfrm>
          <a:prstGeom prst="rect">
            <a:avLst/>
          </a:prstGeom>
          <a:solidFill>
            <a:srgbClr val="0E6F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315200" y="3063239"/>
            <a:ext cx="2029968" cy="932688"/>
          </a:xfrm>
          <a:prstGeom prst="rect">
            <a:avLst/>
          </a:prstGeom>
          <a:solidFill>
            <a:srgbClr val="F4F8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06640" y="3127248"/>
            <a:ext cx="1847088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00" b="1">
                <a:solidFill>
                  <a:srgbClr val="9AA8A2"/>
                </a:solidFill>
                <a:latin typeface="Microsoft YaHei"/>
              </a:rPr>
              <a:t>Runtime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06640" y="3291839"/>
            <a:ext cx="1847088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50" b="1">
                <a:solidFill>
                  <a:srgbClr val="1C2925"/>
                </a:solidFill>
                <a:latin typeface="Microsoft YaHei"/>
              </a:rPr>
              <a:t>求值·转换·校验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06640" y="3493008"/>
            <a:ext cx="184708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830" b="0">
                <a:solidFill>
                  <a:srgbClr val="6B7A74"/>
                </a:solidFill>
                <a:latin typeface="Microsoft YaHei"/>
              </a:rPr>
              <a:t>查表回填真值，按策略适配结构，验完Schema与权限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58884" y="3383279"/>
            <a:ext cx="20116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E6F66"/>
                </a:solidFill>
                <a:latin typeface="Microsoft YaHei"/>
              </a:rPr>
              <a:t>→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564624" y="3035808"/>
            <a:ext cx="2029968" cy="27940"/>
          </a:xfrm>
          <a:prstGeom prst="rect">
            <a:avLst/>
          </a:prstGeom>
          <a:solidFill>
            <a:srgbClr val="0E6F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564624" y="3063239"/>
            <a:ext cx="2029968" cy="932688"/>
          </a:xfrm>
          <a:prstGeom prst="rect">
            <a:avLst/>
          </a:prstGeom>
          <a:solidFill>
            <a:srgbClr val="F4F8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656063" y="3127248"/>
            <a:ext cx="1847088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00" b="1">
                <a:solidFill>
                  <a:srgbClr val="9AA8A2"/>
                </a:solidFill>
                <a:latin typeface="Microsoft YaHei"/>
              </a:rPr>
              <a:t>工具 B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56063" y="3291839"/>
            <a:ext cx="1847088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50" b="1">
                <a:solidFill>
                  <a:srgbClr val="1C2925"/>
                </a:solidFill>
                <a:latin typeface="Microsoft YaHei"/>
              </a:rPr>
              <a:t>真值执行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56063" y="3493008"/>
            <a:ext cx="184708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830" b="0">
                <a:solidFill>
                  <a:srgbClr val="6B7A74"/>
                </a:solidFill>
                <a:latin typeface="Microsoft YaHei"/>
              </a:rPr>
              <a:t>校验通过才调用；结果再入库，链路闭环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4224528"/>
            <a:ext cx="5029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E6F66"/>
                </a:solidFill>
                <a:latin typeface="Microsoft YaHei"/>
              </a:rPr>
              <a:t>03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42416" y="4210812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1C2925"/>
                </a:solidFill>
                <a:latin typeface="Microsoft YaHei"/>
              </a:rPr>
              <a:t>三个关键问题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4498848"/>
            <a:ext cx="344210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50" b="1">
                <a:solidFill>
                  <a:srgbClr val="0B544E"/>
                </a:solidFill>
                <a:latin typeface="Microsoft YaHei"/>
              </a:rPr>
              <a:t>引用怎么写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4736592"/>
            <a:ext cx="3442106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860" b="0">
                <a:solidFill>
                  <a:srgbClr val="1C2925"/>
                </a:solidFill>
                <a:latin typeface="Microsoft YaHei"/>
              </a:rPr>
              <a:t>上一步的结果用 ${resultId.path} 指定字段；「抖音的包名」写成 ${app.抖音.bundleName}。两种写法走同一条解析管道。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860" b="0">
                <a:solidFill>
                  <a:srgbClr val="6B7A74"/>
                </a:solidFill>
                <a:latin typeface="Microsoft YaHei"/>
              </a:rPr>
              <a:t>模型不需要看值时，送模前就换成引用，照抄即可；需要看值时内容照常给，参数仍写引用——「看」与「传」分开。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173626" y="4526280"/>
            <a:ext cx="9525" cy="1170432"/>
          </a:xfrm>
          <a:prstGeom prst="rect">
            <a:avLst/>
          </a:prstGeom>
          <a:solidFill>
            <a:srgbClr val="DDE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374794" y="4498848"/>
            <a:ext cx="344210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50" b="1">
                <a:solidFill>
                  <a:srgbClr val="0B544E"/>
                </a:solidFill>
                <a:latin typeface="Microsoft YaHei"/>
              </a:rPr>
              <a:t>真值从哪来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374794" y="4736592"/>
            <a:ext cx="3442106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860" b="0">
                <a:solidFill>
                  <a:srgbClr val="1C2925"/>
                </a:solidFill>
                <a:latin typeface="Microsoft YaHei"/>
              </a:rPr>
              <a:t>结果引用查工作记忆：先查全量结果集，再查工具适配视图。语义引用查词典：先把 douyin 归一成「抖音」，再由映射表给出真实包名。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860" b="0">
                <a:solidFill>
                  <a:srgbClr val="6B7A74"/>
                </a:solidFill>
                <a:latin typeface="Microsoft YaHei"/>
              </a:rPr>
              <a:t>结构不一致时按参数策略转换：[563,728] 自动变成 [{"file_id":"563"},…]，模型和工具都不用动。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981492" y="4526280"/>
            <a:ext cx="9525" cy="1170432"/>
          </a:xfrm>
          <a:prstGeom prst="rect">
            <a:avLst/>
          </a:prstGeom>
          <a:solidFill>
            <a:srgbClr val="DDE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182660" y="4498848"/>
            <a:ext cx="344210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50" b="1">
                <a:solidFill>
                  <a:srgbClr val="0B544E"/>
                </a:solidFill>
                <a:latin typeface="Microsoft YaHei"/>
              </a:rPr>
              <a:t>出错怎么办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82660" y="4736592"/>
            <a:ext cx="3442106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860" b="0">
                <a:solidFill>
                  <a:srgbClr val="1C2925"/>
                </a:solidFill>
                <a:latin typeface="Microsoft YaHei"/>
              </a:rPr>
              <a:t>解析失败、映射歧义、转换出错，一律短路：${…} 原文绝不透传给工具，错误明确回给模型。权限与作用域由 Runtime 校验。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860" b="0">
                <a:solidFill>
                  <a:srgbClr val="6B7A74"/>
                </a:solidFill>
                <a:latin typeface="Microsoft YaHei"/>
              </a:rPr>
              <a:t>语义映射没命中，就退回查询工具拿候选，确认后刷新词典再重试——失败只是多一轮，不会错着执行。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66928" y="5870448"/>
            <a:ext cx="11057839" cy="9525"/>
          </a:xfrm>
          <a:prstGeom prst="rect">
            <a:avLst/>
          </a:prstGeom>
          <a:solidFill>
            <a:srgbClr val="DDE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6928" y="5998464"/>
            <a:ext cx="2581579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B544E"/>
                </a:solidFill>
                <a:latin typeface="Microsoft YaHei"/>
              </a:rPr>
              <a:t>省 Token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6217920"/>
            <a:ext cx="2581579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50" b="0">
                <a:solidFill>
                  <a:srgbClr val="6B7A74"/>
                </a:solidFill>
                <a:latin typeface="Microsoft YaHei"/>
              </a:rPr>
              <a:t>长值不再回灌复述，输入与时延同降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31387" y="5998464"/>
            <a:ext cx="2581579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B544E"/>
                </a:solidFill>
                <a:latin typeface="Microsoft YaHei"/>
              </a:rPr>
              <a:t>消幻觉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31387" y="6217920"/>
            <a:ext cx="2581579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50" b="0">
                <a:solidFill>
                  <a:srgbClr val="6B7A74"/>
                </a:solidFill>
                <a:latin typeface="Microsoft YaHei"/>
              </a:rPr>
              <a:t>标识只出自查表，不靠模型记忆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095847" y="5998464"/>
            <a:ext cx="2581579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B544E"/>
                </a:solidFill>
                <a:latin typeface="Microsoft YaHei"/>
              </a:rPr>
              <a:t>少一轮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095847" y="6217920"/>
            <a:ext cx="2581579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50" b="0">
                <a:solidFill>
                  <a:srgbClr val="6B7A74"/>
                </a:solidFill>
                <a:latin typeface="Microsoft YaHei"/>
              </a:rPr>
              <a:t>映射命中时，一次业务调用完成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860307" y="5998464"/>
            <a:ext cx="2581579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B544E"/>
                </a:solidFill>
                <a:latin typeface="Microsoft YaHei"/>
              </a:rPr>
              <a:t>零改动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860307" y="6217920"/>
            <a:ext cx="2581579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50" b="0">
                <a:solidFill>
                  <a:srgbClr val="6B7A74"/>
                </a:solidFill>
                <a:latin typeface="Microsoft YaHei"/>
              </a:rPr>
              <a:t>能力在框架层，存量工具无感接入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66928" y="6473952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050" b="1">
                <a:solidFill>
                  <a:srgbClr val="1C2925"/>
                </a:solidFill>
                <a:latin typeface="Microsoft YaHei"/>
              </a:rPr>
              <a:t>模型决定「引用哪个对象」，Runtime 保证「真实、适配、合法」，然后才执行。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