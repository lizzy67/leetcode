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架构视图（独立稿）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不并入主 PPT · 已按评审口径收敛：独立预览服务 / 直发预览 / 单文件 / WebView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8872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1280160"/>
            <a:ext cx="3502152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预览服务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独立新服务（Preview Web Service）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18872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280160"/>
            <a:ext cx="3502152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发布路径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HTML 直发预览服务；云空间仅备份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38160" y="118872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47888" y="1280160"/>
            <a:ext cx="3502152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一期范围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只做单文件 HTML（CSS/JS 内联）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36576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5488" y="3749040"/>
            <a:ext cx="3502152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端侧呈现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WebView 组件直接打开 preview_url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51960" y="36576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3749040"/>
            <a:ext cx="3502152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5309"/>
                </a:solidFill>
                <a:latin typeface="Calibri"/>
              </a:rPr>
              <a:t>鉴权（待定）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优先评估复用端云 AK/SK；WebView 打开链建议另议短签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38160" y="3657600"/>
            <a:ext cx="3703320" cy="219456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47888" y="3749040"/>
            <a:ext cx="3502152" cy="20482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5309"/>
                </a:solidFill>
                <a:latin typeface="Calibri"/>
              </a:rPr>
              <a:t>不进本图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流式方案 B/C（见备注，非本期主架构）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逻辑架构图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方案4主路径：Agent 直发独立预览服务 → 返回 URL → 端 WebView 渲染；云空间仅备份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" y="960120"/>
            <a:ext cx="11612880" cy="1325880"/>
          </a:xfrm>
          <a:prstGeom prst="roundRect">
            <a:avLst>
              <a:gd name="adj" fmla="val 3000"/>
            </a:avLst>
          </a:prstGeom>
          <a:solidFill>
            <a:srgbClr val="EFF6FF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4048" y="103327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Calibri"/>
              </a:rPr>
              <a:t>① 端侧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280160"/>
            <a:ext cx="53949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563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2648" y="1371600"/>
            <a:ext cx="519379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2563EB"/>
                </a:solidFill>
                <a:latin typeface="Calibri"/>
              </a:rPr>
              <a:t>对话 UI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发起任务；展示预览入口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26480" y="1280160"/>
            <a:ext cx="544068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36208" y="1371600"/>
            <a:ext cx="5239512" cy="676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WebView 组件 ★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loadUrl(preview_url) 会话内渲染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74320" y="2423160"/>
            <a:ext cx="11612880" cy="155448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84048" y="2496312"/>
            <a:ext cx="11430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Calibri"/>
              </a:rPr>
              <a:t>② Agent 运行时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278892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2648" y="2880360"/>
            <a:ext cx="24963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编排 / Session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对话上下文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工具调用编排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337560" y="278892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47288" y="2880360"/>
            <a:ext cx="24963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LLM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生成单文件 HTML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图表/文案内联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200" y="2788920"/>
            <a:ext cx="269748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81928" y="2880360"/>
            <a:ext cx="249631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Skills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运动健康数据 Skill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其它取数…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006840" y="2788920"/>
            <a:ext cx="2606040" cy="10058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16568" y="2880360"/>
            <a:ext cx="2404872" cy="8595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Tools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publish_preview ★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write（备份云空间）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74320" y="4114800"/>
            <a:ext cx="6766560" cy="2331720"/>
          </a:xfrm>
          <a:prstGeom prst="roundRect">
            <a:avLst>
              <a:gd name="adj" fmla="val 3000"/>
            </a:avLst>
          </a:prstGeom>
          <a:solidFill>
            <a:srgbClr val="F0FDFA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84048" y="4187952"/>
            <a:ext cx="6583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Calibri"/>
              </a:rPr>
              <a:t>③ Web 渲染中台（独立新服务）★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4526280"/>
            <a:ext cx="63550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F76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4617720"/>
            <a:ext cx="6153912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Preview Web Service（独立部署）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接收：Agent 直发的单文件 HTML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输出：可访问 preview_url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职责：托管、text/html、CSP、TTL、访问控制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223760" y="4114800"/>
            <a:ext cx="4663440" cy="2331720"/>
          </a:xfrm>
          <a:prstGeom prst="roundRect">
            <a:avLst>
              <a:gd name="adj" fmla="val 3000"/>
            </a:avLst>
          </a:prstGeom>
          <a:solidFill>
            <a:srgbClr val="ECFDF5"/>
          </a:solidFill>
          <a:ln w="15875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33488" y="4187952"/>
            <a:ext cx="4480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64748B"/>
                </a:solidFill>
                <a:latin typeface="Calibri"/>
              </a:rPr>
              <a:t>④ 备份（非渲染入口）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06640" y="4526280"/>
            <a:ext cx="429768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516368" y="4617720"/>
            <a:ext cx="4096512" cy="1545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华为云空间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write 同步仅作备份/审计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不承担 WebView 渲染入口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需要时可 REST 取源文件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11430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4748B"/>
                </a:solidFill>
                <a:latin typeface="Calibri"/>
              </a:rPr>
              <a:t>鉴权注记：Agent→预览服务 可复用端云 AK/SK；WebView 打开 URL 更适合短时签名/一次性 token（见说明页）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运行视图 · 健康报告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直发预览服务为主；云空间备份并行/事后；端仅 WebView 打开链接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960120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用户 / 端侧</a:t>
            </a:r>
          </a:p>
        </p:txBody>
      </p:sp>
      <p:sp>
        <p:nvSpPr>
          <p:cNvPr id="7" name="Rectangle 6"/>
          <p:cNvSpPr/>
          <p:nvPr/>
        </p:nvSpPr>
        <p:spPr>
          <a:xfrm>
            <a:off x="1344168" y="1417320"/>
            <a:ext cx="32004" cy="4983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651760" y="960120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Agent 运行时</a:t>
            </a:r>
          </a:p>
        </p:txBody>
      </p:sp>
      <p:sp>
        <p:nvSpPr>
          <p:cNvPr id="9" name="Rectangle 8"/>
          <p:cNvSpPr/>
          <p:nvPr/>
        </p:nvSpPr>
        <p:spPr>
          <a:xfrm>
            <a:off x="3675888" y="1417320"/>
            <a:ext cx="32004" cy="4983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983480" y="960120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Skill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07608" y="1417320"/>
            <a:ext cx="32004" cy="4983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7315200" y="960120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预览 Web 服务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339328" y="1417320"/>
            <a:ext cx="32004" cy="4983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9646920" y="960120"/>
            <a:ext cx="2148840" cy="411480"/>
          </a:xfrm>
          <a:prstGeom prst="roundRect">
            <a:avLst>
              <a:gd name="adj" fmla="val 20000"/>
            </a:avLst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云空间(备份)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671048" y="1417320"/>
            <a:ext cx="32004" cy="4983480"/>
          </a:xfrm>
          <a:prstGeom prst="rect">
            <a:avLst/>
          </a:prstGeom>
          <a:solidFill>
            <a:srgbClr val="CBD5E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393192" y="155448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1. 请求健康报告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24912" y="205740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2. 编排任务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56632" y="256032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3. 取运动健康数据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724912" y="306324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4. LLM 生成单文件 HTML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88352" y="356616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5. publish_preview 直发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88352" y="406908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F76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6. 返回 preview_url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720072" y="457200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7. write 备份源文件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24912" y="507492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8. 回传 URL 给端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93192" y="557784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9. WebView 打开链接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88352" y="6080760"/>
            <a:ext cx="2011680" cy="384048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10. 返回 HTML 完成渲染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" y="6537960"/>
            <a:ext cx="115214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>
                <a:solidFill>
                  <a:srgbClr val="64748B"/>
                </a:solidFill>
                <a:latin typeface="Calibri"/>
              </a:rPr>
              <a:t>青色=主路径　　灰色=备份路径（可与 5/6 并行，不阻塞预览）　　WebView 访问预览 URL 的鉴权方式见说明页待定项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777240"/>
            <a:ext cx="12191695" cy="45720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113385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>
                <a:solidFill>
                  <a:srgbClr val="FFFFFF"/>
                </a:solidFill>
                <a:latin typeface="Calibri"/>
              </a:rPr>
              <a:t>说明：鉴权怎么选 · 单文件为何够用 · 流式 B/C 是什么</a:t>
            </a:r>
          </a:p>
          <a:p>
            <a:r>
              <a:rPr sz="1100" b="0">
                <a:solidFill>
                  <a:srgbClr val="94A3B8"/>
                </a:solidFill>
                <a:latin typeface="Calibri"/>
              </a:rPr>
              <a:t>供对齐，不并入主 PPT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97280"/>
            <a:ext cx="3794760" cy="5303520"/>
          </a:xfrm>
          <a:prstGeom prst="roundRect">
            <a:avLst>
              <a:gd name="adj" fmla="val 8000"/>
            </a:avLst>
          </a:prstGeom>
          <a:solidFill>
            <a:srgbClr val="F0FDFA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29768" y="1188720"/>
            <a:ext cx="3593592" cy="515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鉴权建议（待你拍板）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两条链路要分开看：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A. Agent → 预览服务（服务间）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可复用现有端云 AK/SK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或内部服务凭证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B. WebView → 打开 preview_url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不太适合直接塞 AK/SK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（密钥会进 WebView/日志）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更常见：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publish 时用 AK/SK 鉴权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返回短时签名 URL / 一次性 token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WebView 只拿这个链接打开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51960" y="1097280"/>
            <a:ext cx="3794760" cy="530352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0D94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361688" y="1188720"/>
            <a:ext cx="3593592" cy="515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0F766E"/>
                </a:solidFill>
                <a:latin typeface="Calibri"/>
              </a:rPr>
              <a:t>静态目录资源有啥用？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指一个页面拆成：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index.html + app.css + chart.js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+ 图片等多个文件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预览服务若支持「目录托管」，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相对路径才能一起打开。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一期单文件：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CSS/JS 都写进同一个 HTML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→ 不需要目录能力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所以一期不做静态目录完全合理；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以后报告变复杂再加即可。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183879" y="1097280"/>
            <a:ext cx="3657600" cy="5303520"/>
          </a:xfrm>
          <a:prstGeom prst="roundRect">
            <a:avLst>
              <a:gd name="adj" fmla="val 8000"/>
            </a:avLst>
          </a:prstGeom>
          <a:solidFill>
            <a:srgbClr val="FFFBEB"/>
          </a:solidFill>
          <a:ln w="1587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3607" y="1188720"/>
            <a:ext cx="3456432" cy="5157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1">
                <a:solidFill>
                  <a:srgbClr val="B45309"/>
                </a:solidFill>
                <a:latin typeface="Calibri"/>
              </a:rPr>
              <a:t>流式 B/C 是什么？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这是主 PPT 里另外两条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「端内喂 HTML」的备选，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不是方案4的一部分：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B：模型边生成，边把 HTML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 片段推到端上刷新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C：先流式粗看，完成后再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   落盘/定稿替换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你们定主路径=预览服务出链接后，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B/C 可先不进架构图。</a:t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100" b="0">
                <a:solidFill>
                  <a:srgbClr val="334155"/>
                </a:solidFill>
                <a:latin typeface="Calibri"/>
              </a:rPr>
              <a:t>本独立 PPT 已按此省略。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