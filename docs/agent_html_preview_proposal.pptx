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cover-health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6583680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对话内 HTML 渲染方案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9F6E4"/>
                </a:solidFill>
                <a:latin typeface="Calibri"/>
              </a:rPr>
              <a:t>Skill 取数 · 图形化生成 · 端侧安全呈现</a:t>
            </a:r>
          </a:p>
          <a:p>
            <a:pPr>
              <a:spcBef>
                <a:spcPts val="1800"/>
              </a:spcBef>
            </a:pPr>
            <a:r>
              <a:rPr sz="1200" b="0">
                <a:solidFill>
                  <a:srgbClr val="94A3B8"/>
                </a:solidFill>
                <a:latin typeface="Calibri"/>
              </a:rPr>
              <a:t>以「个人健康分析报告」为验收场景
图文讲解：问题 → 能力 → 竞品 → Gap → 三方案 → 示例 → 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532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技术分享  |  系统方案  |  落地路径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问题定义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需要在端侧对话中直接渲染并显示模型生成的 HTML 内容</a:t>
            </a:r>
          </a:p>
        </p:txBody>
      </p:sp>
      <p:pic>
        <p:nvPicPr>
          <p:cNvPr id="7" name="Picture 6" descr="ppt-scenario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703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937760"/>
            <a:ext cx="6949440" cy="1554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6675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场景分镜：取数 → 生成可视化 → 对话内预览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① 运动健康 Skill 拉取指标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② 模型生成带图表的 HTML 报告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③ 在会话中直接展示，而非源码/附件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143000"/>
            <a:ext cx="4297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80160"/>
            <a:ext cx="3977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488"/>
                </a:solidFill>
                <a:latin typeface="Calibri"/>
              </a:rPr>
              <a:t>用户原话（示例）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F172A"/>
                </a:solidFill>
                <a:latin typeface="Calibri"/>
              </a:rPr>
              <a:t>「帮我生成最近的个人健康分析报告」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期望：图表、趋势、结论卡片在对话里可点可看。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28346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79476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45309"/>
                </a:solidFill>
                <a:latin typeface="Calibri"/>
              </a:rPr>
              <a:t>成功标准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· 会话内直接看见报告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· 图表可交互（不仅截图）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· 无需下载后另开应用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· 安全：脚本不越权主站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实现能力路径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生成 → 落盘 → 同步 → 渲染 → 安全 → 分享</a:t>
            </a:r>
          </a:p>
        </p:txBody>
      </p:sp>
      <p:pic>
        <p:nvPicPr>
          <p:cNvPr id="7" name="Picture 6" descr="ppt-capability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611880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1691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1 生成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LLM + Skill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产出 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234440" cy="320040"/>
          </a:xfrm>
          <a:prstGeom prst="roundRect">
            <a:avLst>
              <a:gd name="adj" fmla="val 4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已有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611880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749039"/>
            <a:ext cx="1691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2 落盘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write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5440680"/>
            <a:ext cx="1234440" cy="320040"/>
          </a:xfrm>
          <a:prstGeom prst="roundRect">
            <a:avLst>
              <a:gd name="adj" fmla="val 4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已有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80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749039"/>
            <a:ext cx="1691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3 同步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华为云空间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REST 可下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440680"/>
            <a:ext cx="1234440" cy="320040"/>
          </a:xfrm>
          <a:prstGeom prst="roundRect">
            <a:avLst>
              <a:gd name="adj" fmla="val 4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已有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611880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3749039"/>
            <a:ext cx="1691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4 渲染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iframe /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WebView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399" y="5440680"/>
            <a:ext cx="1234440" cy="32004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缺口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611880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749039"/>
            <a:ext cx="1691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5 安全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sandbox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CSP 隔离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5440680"/>
            <a:ext cx="1234440" cy="32004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缺口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611880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3749039"/>
            <a:ext cx="1691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6 分享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链接/回放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334155"/>
                </a:solidFill>
                <a:latin typeface="Calibri"/>
              </a:rPr>
              <a:t>转发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61320" y="5440680"/>
            <a:ext cx="1234440" cy="32004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可选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结论：前三环已通；产品断点在「渲染 + 安全」。健康报告要「在对话里长出来」，必须补齐第 4、5 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竞品多维对比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OpenClaw · Cursor · Claude · Gemini · ChatGPT · Manus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97280"/>
          <a:ext cx="11704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1691640"/>
                <a:gridCol w="1737360"/>
                <a:gridCol w="1737360"/>
                <a:gridCol w="1783080"/>
                <a:gridCol w="1737360"/>
              </a:tblGrid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维度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OpenClaw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Cursor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ChatGPT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Manus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Calibri"/>
                        </a:rPr>
                        <a:t>对话内预览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47857"/>
                          </a:solidFill>
                          <a:latin typeface="Calibri"/>
                        </a:rPr>
                        <a:t>强
widget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弱*
偏 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47857"/>
                          </a:solidFill>
                          <a:latin typeface="Calibri"/>
                        </a:rPr>
                        <a:t>强
Artifacts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中强
Canvas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中
Canvas/ADA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47857"/>
                          </a:solidFill>
                          <a:latin typeface="Calibri"/>
                        </a:rPr>
                        <a:t>强
托管预览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Calibri"/>
                        </a:rPr>
                        <a:t>呈现形态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工作区文件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侧栏产物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Canvas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Canvas+
解释器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站点/App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Calibri"/>
                        </a:rPr>
                        <a:t>数据/工具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Skill/工具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FS/终端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工具+MCP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工具+
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GPTs/ADA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Agent全流程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Calibri"/>
                        </a:rPr>
                        <a:t>安全隔离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双层iframe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工作区隔离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独立域CSP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平台沙箱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平台沙箱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托管隔离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Calibri"/>
                        </a:rPr>
                        <a:t>分享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pin/渠道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Git/PR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Publish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分享/导出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分享链接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一键发布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Calibri"/>
                        </a:rPr>
                        <a:t>启示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widget+
沙箱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复用write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单文件
预览体验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Canvas
可参考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取数可视化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分享演进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5806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Calibri"/>
              </a:rPr>
              <a:t>对标优先级：</a:t>
            </a:r>
            <a:r>
              <a:rPr sz="1200" b="0">
                <a:solidFill>
                  <a:srgbClr val="334155"/>
                </a:solidFill>
                <a:latin typeface="Calibri"/>
              </a:rPr>
              <a:t>Claude Artifacts / OpenClaw Widget  </a:t>
            </a:r>
            <a:r>
              <a:rPr sz="1200" b="0">
                <a:solidFill>
                  <a:srgbClr val="334155"/>
                </a:solidFill>
                <a:latin typeface="Calibri"/>
              </a:rPr>
              <a:t>→ 参考 Gemini/ChatGPT Canvas  </a:t>
            </a:r>
            <a:r>
              <a:rPr sz="1200" b="0">
                <a:solidFill>
                  <a:srgbClr val="334155"/>
                </a:solidFill>
                <a:latin typeface="Calibri"/>
              </a:rPr>
              <a:t>→ 分享演进看 Manus。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64748B"/>
                </a:solidFill>
                <a:latin typeface="Calibri"/>
              </a:rPr>
              <a:t>* Cursor 强在仓库工程，不是对话内小工具预览主路径。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现状与目标架构 Gap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复用 write + 云空间；补齐「可预览」闭环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4748B"/>
                </a:solidFill>
                <a:latin typeface="Calibri"/>
              </a:rPr>
              <a:t>现状 AS-IS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Skill取数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30552" y="205740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39" y="16916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5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生成HTML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05071" y="205740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59" y="16916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write落盘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79591" y="205740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79" y="16916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云空间同步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54111" y="205740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0999" y="16916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REST下载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28631" y="205740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16916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45309"/>
                </a:solidFill>
                <a:latin typeface="Calibri"/>
              </a:rPr>
              <a:t>附件/源码?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200400"/>
            <a:ext cx="11521440" cy="19659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目标 TO-BE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9476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69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Skill取数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130552" y="4160520"/>
            <a:ext cx="256032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77439" y="379476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59" y="4069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生成HTML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005071" y="4160520"/>
            <a:ext cx="256032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51959" y="379476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79" y="4069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write+同步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879591" y="4160520"/>
            <a:ext cx="256032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79" y="379476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4069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识别preview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754111" y="4160520"/>
            <a:ext cx="256032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0999" y="379476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069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沙箱渲染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628631" y="4160520"/>
            <a:ext cx="256032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75520" y="379476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4069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会话内交互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539496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55321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P0</a:t>
            </a:r>
          </a:p>
          <a:p>
            <a:r>
              <a:rPr sz="1100" b="0">
                <a:solidFill>
                  <a:srgbClr val="334155"/>
                </a:solidFill>
                <a:latin typeface="Calibri"/>
              </a:rPr>
              <a:t>预览容器 iframe/WebView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51760" y="539496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1488" y="55321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P0</a:t>
            </a:r>
          </a:p>
          <a:p>
            <a:r>
              <a:rPr sz="1100" b="0">
                <a:solidFill>
                  <a:srgbClr val="334155"/>
                </a:solidFill>
                <a:latin typeface="Calibri"/>
              </a:rPr>
              <a:t>mime / preview 元数据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3480" y="539496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93208" y="55321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P0</a:t>
            </a:r>
          </a:p>
          <a:p>
            <a:r>
              <a:rPr sz="1100" b="0">
                <a:solidFill>
                  <a:srgbClr val="334155"/>
                </a:solidFill>
                <a:latin typeface="Calibri"/>
              </a:rPr>
              <a:t>sandbox 安全默认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199" y="539496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4927" y="55321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Calibri"/>
              </a:rPr>
              <a:t>P1</a:t>
            </a:r>
          </a:p>
          <a:p>
            <a:r>
              <a:rPr sz="1100" b="0">
                <a:solidFill>
                  <a:srgbClr val="334155"/>
                </a:solidFill>
                <a:latin typeface="Calibri"/>
              </a:rPr>
              <a:t>同步就绪与刷新降级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46920" y="539496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55321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Calibri"/>
              </a:rPr>
              <a:t>P2</a:t>
            </a:r>
          </a:p>
          <a:p>
            <a:r>
              <a:rPr sz="1100" b="0">
                <a:solidFill>
                  <a:srgbClr val="334155"/>
                </a:solidFill>
                <a:latin typeface="Calibri"/>
              </a:rPr>
              <a:t>流式 / 混合 / 分享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三种实现方案对比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A 下载后渲染 · B 流式实时 · C 混合（流式粗预览 + 落盘定稿）</a:t>
            </a:r>
          </a:p>
        </p:txBody>
      </p:sp>
      <p:pic>
        <p:nvPicPr>
          <p:cNvPr id="7" name="Picture 6" descr="ppt-three-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337560"/>
            <a:ext cx="3703320" cy="31546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2011680" cy="292608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一期默认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8862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方案 A · 下载后渲染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流程：</a:t>
            </a:r>
            <a:r>
              <a:rPr sz="1100" b="0">
                <a:solidFill>
                  <a:srgbClr val="334155"/>
                </a:solidFill>
                <a:latin typeface="Calibri"/>
              </a:rPr>
              <a:t>write→同步→REST全文→一次加载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优势：</a:t>
            </a:r>
            <a:r>
              <a:rPr sz="1100" b="0">
                <a:solidFill>
                  <a:srgbClr val="334155"/>
                </a:solidFill>
                <a:latin typeface="Calibri"/>
              </a:rPr>
              <a:t>稳、完整、易回放、贴合云空间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代价：</a:t>
            </a:r>
            <a:r>
              <a:rPr sz="1100" b="0">
                <a:solidFill>
                  <a:srgbClr val="334155"/>
                </a:solidFill>
                <a:latin typeface="Calibri"/>
              </a:rPr>
              <a:t>需等生成+同步才出首屏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337560"/>
            <a:ext cx="37033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2011680" cy="292608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二期增强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38862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方案 B · 流式实时渲染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流程：</a:t>
            </a:r>
            <a:r>
              <a:rPr sz="1100" b="0">
                <a:solidFill>
                  <a:srgbClr val="334155"/>
                </a:solidFill>
                <a:latin typeface="Calibri"/>
              </a:rPr>
              <a:t>token/delta→buffer→边收边刷新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优势：</a:t>
            </a:r>
            <a:r>
              <a:rPr sz="1100" b="0">
                <a:solidFill>
                  <a:srgbClr val="334155"/>
                </a:solidFill>
                <a:latin typeface="Calibri"/>
              </a:rPr>
              <a:t>首屏快，体感像流式 Markdown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代价：</a:t>
            </a:r>
            <a:r>
              <a:rPr sz="1100" b="0">
                <a:solidFill>
                  <a:srgbClr val="334155"/>
                </a:solidFill>
                <a:latin typeface="Calibri"/>
              </a:rPr>
              <a:t>半截标签/脚本重复/协议重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337560"/>
            <a:ext cx="3703320" cy="31546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3474720"/>
            <a:ext cx="2011680" cy="292608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报告场景演进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8862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方案 C · 混合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流程：</a:t>
            </a:r>
            <a:r>
              <a:rPr sz="1100" b="0">
                <a:solidFill>
                  <a:srgbClr val="334155"/>
                </a:solidFill>
                <a:latin typeface="Calibri"/>
              </a:rPr>
              <a:t>流式粗预览 + 完成后 write 定稿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优势：</a:t>
            </a:r>
            <a:r>
              <a:rPr sz="1100" b="0">
                <a:solidFill>
                  <a:srgbClr val="334155"/>
                </a:solidFill>
                <a:latin typeface="Calibri"/>
              </a:rPr>
              <a:t>体验近 B，正确性兜底靠 A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766E"/>
                </a:solidFill>
                <a:latin typeface="Calibri"/>
              </a:rPr>
              <a:t>代价：</a:t>
            </a:r>
            <a:r>
              <a:rPr sz="1100" b="0">
                <a:solidFill>
                  <a:srgbClr val="334155"/>
                </a:solidFill>
                <a:latin typeface="Calibri"/>
              </a:rPr>
              <a:t>状态机更复杂，需切换策略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实现示例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健康报告闭环：契约 · 方案 A · 方案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411480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488"/>
                </a:solidFill>
                <a:latin typeface="Calibri"/>
              </a:rPr>
              <a:t>健康报告串接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Skill 拉取运动健康数据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生成单文件图表 HTML</a:t>
            </a:r>
          </a:p>
          <a:p>
            <a:r>
              <a:rPr sz="1200" b="0">
                <a:solidFill>
                  <a:srgbClr val="334155"/>
                </a:solidFill>
                <a:latin typeface="Calibri"/>
              </a:rPr>
              <a:t>（CSS/JS 尽量内联）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write → 云空间同步就绪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34339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7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端识别 preview.kind=html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sandbox 预览 / 可交互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097280"/>
            <a:ext cx="7178040" cy="2331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234440"/>
            <a:ext cx="6858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EAD4"/>
                </a:solidFill>
                <a:latin typeface="Consolas"/>
              </a:rPr>
              <a:t>// write / 同步完成后的返回（示意）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{ "path": "artifacts/health-report.html",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  "cloud_file_id": "f_xxx", "mime": "text/html",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  "sync_status": "synced",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  "preview": { "kind": "html", "entry": true }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611880"/>
            <a:ext cx="3474720" cy="2880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749039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EAD4"/>
                </a:solidFill>
                <a:latin typeface="Consolas"/>
              </a:rPr>
              <a:t>// 方案 A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html = await download(id)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iframe.sandbox =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  'allow-scripts'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iframe.srcdoc = 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61188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749039"/>
            <a:ext cx="3246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EAD4"/>
                </a:solidFill>
                <a:latin typeface="Consolas"/>
              </a:rPr>
              <a:t>// 方案 C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onDelta(t =&gt; paint(buf+=t))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onDone(async () =&gt; {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  await writeAndSync()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  iframe.srcdoc = final</a:t>
            </a:r>
          </a:p>
          <a:p>
            <a:r>
              <a:rPr sz="1200" b="0">
                <a:solidFill>
                  <a:srgbClr val="CBD5E1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结论与建议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用最少改动打通「对话里看得见的健康报告」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问题本质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对话内安全渲染可视化 HTML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（取数+生成+呈现），不是再造存储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3716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能力优先级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先补渲染 + 安全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分享与流式后置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13716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竞品对标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Claude Artifacts / OpenClaw Widget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分享演进参考 Manus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9476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方案选择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0916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一期默认 A；报告场景演进 C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纯 B 不作唯一路径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9476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02336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安全底线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模型 HTML = 不可信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allow-scripts，慎开 same-origin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402336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下一步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0916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元数据 + 预览卡片 + sandbox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用健康报告做验收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