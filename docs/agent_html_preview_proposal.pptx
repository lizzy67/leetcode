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ver-health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12080"/>
            <a:ext cx="6583680" cy="16459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828800"/>
            <a:ext cx="5669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对话内 HTML 渲染方案</a:t>
            </a:r>
          </a:p>
          <a:p>
            <a:pPr>
              <a:spcBef>
                <a:spcPts val="1400"/>
              </a:spcBef>
            </a:pPr>
            <a:r>
              <a:rPr sz="1500" b="0">
                <a:solidFill>
                  <a:srgbClr val="99F6E4"/>
                </a:solidFill>
                <a:latin typeface="Calibri"/>
              </a:rPr>
              <a:t>Skill 取数 · 图形化生成 · 端侧安全呈现</a:t>
            </a:r>
          </a:p>
          <a:p>
            <a:pPr>
              <a:spcBef>
                <a:spcPts val="1800"/>
              </a:spcBef>
            </a:pPr>
            <a:r>
              <a:rPr sz="1200" b="0">
                <a:solidFill>
                  <a:srgbClr val="94A3B8"/>
                </a:solidFill>
                <a:latin typeface="Calibri"/>
              </a:rPr>
              <a:t>以「个人健康分析报告」为验收场景
图文讲解：问题 → 能力 → 竞品 → Gap → 四方案 → 示例 → 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5321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技术分享  |  系统方案  |  四路径落地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645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问题定义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需要在端侧对话中直接渲染并显示模型生成的 HTML 内容</a:t>
            </a:r>
          </a:p>
        </p:txBody>
      </p:sp>
      <p:pic>
        <p:nvPicPr>
          <p:cNvPr id="7" name="Picture 6" descr="ppt-scenario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6949440" cy="3703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937760"/>
            <a:ext cx="6949440" cy="155448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6675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766E"/>
                </a:solidFill>
                <a:latin typeface="Calibri"/>
              </a:rPr>
              <a:t>场景分镜：取数 → 生成可视化 → 对话内预览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① 运动健康 Skill 拉取指标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② 模型生成带图表的 HTML 报告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③ 在会话中直接展示，而非源码/附件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1143000"/>
            <a:ext cx="42976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1280160"/>
            <a:ext cx="3977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用户原话（示例）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0F172A"/>
                </a:solidFill>
                <a:latin typeface="Calibri"/>
              </a:rPr>
              <a:t>「帮我生成最近的个人健康分析报告」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期望：图表、趋势、结论卡片在对话里可点可看。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657600"/>
            <a:ext cx="4297680" cy="283464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3794760"/>
            <a:ext cx="3977639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45309"/>
                </a:solidFill>
                <a:latin typeface="Calibri"/>
              </a:rPr>
              <a:t>成功标准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· 会话内直接看见报告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· 图表可交互（不仅截图）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· 无需下载后另开应用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· 安全：脚本不越权主站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645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实现能力路径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生成 → 落盘 → 同步 → 渲染 → 安全 → 分享</a:t>
            </a:r>
          </a:p>
        </p:txBody>
      </p:sp>
      <p:pic>
        <p:nvPicPr>
          <p:cNvPr id="7" name="Picture 6" descr="ppt-capability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23317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3611880"/>
            <a:ext cx="1874519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49039"/>
            <a:ext cx="1691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1 生成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LLM + Skill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产出 HTML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40680"/>
            <a:ext cx="1234440" cy="320040"/>
          </a:xfrm>
          <a:prstGeom prst="roundRect">
            <a:avLst>
              <a:gd name="adj" fmla="val 40000"/>
            </a:avLst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已有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3611880"/>
            <a:ext cx="1874519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3749039"/>
            <a:ext cx="1691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2 落盘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write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workspace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5440680"/>
            <a:ext cx="1234440" cy="320040"/>
          </a:xfrm>
          <a:prstGeom prst="roundRect">
            <a:avLst>
              <a:gd name="adj" fmla="val 40000"/>
            </a:avLst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已有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611880"/>
            <a:ext cx="1874519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3749039"/>
            <a:ext cx="1691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3 同步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华为云空间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REST 可下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5440680"/>
            <a:ext cx="1234440" cy="320040"/>
          </a:xfrm>
          <a:prstGeom prst="roundRect">
            <a:avLst>
              <a:gd name="adj" fmla="val 40000"/>
            </a:avLst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已有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3611880"/>
            <a:ext cx="1874519" cy="233172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799" y="3749039"/>
            <a:ext cx="1691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4 渲染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iframe /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WebView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399" y="5440680"/>
            <a:ext cx="1234440" cy="320040"/>
          </a:xfrm>
          <a:prstGeom prst="roundRect">
            <a:avLst>
              <a:gd name="adj" fmla="val 4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缺口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3611880"/>
            <a:ext cx="1874519" cy="233172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3749039"/>
            <a:ext cx="1691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5 安全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sandbox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CSP 隔离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60" y="5440680"/>
            <a:ext cx="1234440" cy="320040"/>
          </a:xfrm>
          <a:prstGeom prst="roundRect">
            <a:avLst>
              <a:gd name="adj" fmla="val 4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缺口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0" y="3611880"/>
            <a:ext cx="1874519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0" y="3749039"/>
            <a:ext cx="1691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6 分享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链接/回放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334155"/>
                </a:solidFill>
                <a:latin typeface="Calibri"/>
              </a:rPr>
              <a:t>转发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61320" y="5440680"/>
            <a:ext cx="1234440" cy="320040"/>
          </a:xfrm>
          <a:prstGeom prst="roundRect">
            <a:avLst>
              <a:gd name="adj" fmla="val 4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可选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1264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  <a:latin typeface="Calibri"/>
              </a:rPr>
              <a:t>结论：前三环已通；产品断点在「渲染 + 安全」。健康报告要「在对话里长出来」，必须补齐第 4、5 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645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竞品多维对比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OpenClaw · Cursor · Claude · Gemini · ChatGPT · Manus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097280"/>
          <a:ext cx="11704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1691640"/>
                <a:gridCol w="1737360"/>
                <a:gridCol w="1737360"/>
                <a:gridCol w="1783080"/>
                <a:gridCol w="1737360"/>
              </a:tblGrid>
              <a:tr h="653142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维度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OpenClaw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Cursor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Claude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Gemini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ChatGPT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Manus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对话内预览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47857"/>
                          </a:solidFill>
                          <a:latin typeface="Calibri"/>
                        </a:rPr>
                        <a:t>强
widget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弱*
偏 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47857"/>
                          </a:solidFill>
                          <a:latin typeface="Calibri"/>
                        </a:rPr>
                        <a:t>强
Artifacts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中强
Canvas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中
Canvas/ADA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47857"/>
                          </a:solidFill>
                          <a:latin typeface="Calibri"/>
                        </a:rPr>
                        <a:t>强
托管预览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呈现形态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Widget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工作区文件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侧栏产物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Canvas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Canvas+
解释器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站点/App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数据/工具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Skill/工具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FS/终端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工具+MCP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工具+
Workspace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GPTs/ADA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Agent全流程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安全隔离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双层iframe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工作区隔离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独立域CSP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平台沙箱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平台沙箱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托管隔离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分享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pin/渠道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Git/PR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Publish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分享/导出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分享链接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一键发布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启示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widget+
沙箱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复用write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单文件
预览体验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Canvas
可参考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取数可视化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分享演进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5806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D9488"/>
                </a:solidFill>
                <a:latin typeface="Calibri"/>
              </a:rPr>
              <a:t>对标优先级：</a:t>
            </a:r>
            <a:r>
              <a:rPr sz="1200" b="0">
                <a:solidFill>
                  <a:srgbClr val="334155"/>
                </a:solidFill>
                <a:latin typeface="Calibri"/>
              </a:rPr>
              <a:t>Claude Artifacts / OpenClaw Widget  </a:t>
            </a:r>
            <a:r>
              <a:rPr sz="1200" b="0">
                <a:solidFill>
                  <a:srgbClr val="334155"/>
                </a:solidFill>
                <a:latin typeface="Calibri"/>
              </a:rPr>
              <a:t>→ 参考 Gemini/ChatGPT Canvas  </a:t>
            </a:r>
            <a:r>
              <a:rPr sz="1200" b="0">
                <a:solidFill>
                  <a:srgbClr val="334155"/>
                </a:solidFill>
                <a:latin typeface="Calibri"/>
              </a:rPr>
              <a:t>→ 分享演进看 Manus。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Calibri"/>
              </a:rPr>
              <a:t>* Cursor 强在仓库工程，不是对话内小工具预览主路径。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645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现状与目标架构 Gap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复用 write + 云空间；补齐「可预览」闭环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97280"/>
            <a:ext cx="11521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4748B"/>
                </a:solidFill>
                <a:latin typeface="Calibri"/>
              </a:rPr>
              <a:t>现状 AS-IS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1600200" cy="105156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Skill取数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30552" y="2057400"/>
            <a:ext cx="256032" cy="201168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77439" y="1691640"/>
            <a:ext cx="1600200" cy="105156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23159" y="196596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生成HTML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05071" y="2057400"/>
            <a:ext cx="256032" cy="201168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51959" y="1691640"/>
            <a:ext cx="1600200" cy="105156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79" y="196596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write落盘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79591" y="2057400"/>
            <a:ext cx="256032" cy="201168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79" y="1691640"/>
            <a:ext cx="1600200" cy="105156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199" y="196596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云空间同步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754111" y="2057400"/>
            <a:ext cx="256032" cy="201168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00999" y="1691640"/>
            <a:ext cx="1600200" cy="105156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96596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REST下载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628631" y="2057400"/>
            <a:ext cx="256032" cy="201168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875520" y="1691640"/>
            <a:ext cx="1600200" cy="105156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21240" y="196596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45309"/>
                </a:solidFill>
                <a:latin typeface="Calibri"/>
              </a:rPr>
              <a:t>附件/源码?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" y="3200400"/>
            <a:ext cx="11521440" cy="196596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2918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766E"/>
                </a:solidFill>
                <a:latin typeface="Calibri"/>
              </a:rPr>
              <a:t>目标 TO-BE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794760"/>
            <a:ext cx="1600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69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Calibri"/>
              </a:rPr>
              <a:t>Skill取数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2130552" y="4160520"/>
            <a:ext cx="256032" cy="201168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377439" y="3794760"/>
            <a:ext cx="1600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23159" y="4069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Calibri"/>
              </a:rPr>
              <a:t>生成HTML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4005071" y="4160520"/>
            <a:ext cx="256032" cy="201168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251959" y="3794760"/>
            <a:ext cx="1600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97679" y="4069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Calibri"/>
              </a:rPr>
              <a:t>write+同步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879591" y="4160520"/>
            <a:ext cx="256032" cy="201168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26479" y="3794760"/>
            <a:ext cx="1600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72199" y="4069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Calibri"/>
              </a:rPr>
              <a:t>发布预览URL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7754111" y="4160520"/>
            <a:ext cx="256032" cy="201168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000999" y="3794760"/>
            <a:ext cx="1600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19" y="4069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Calibri"/>
              </a:rPr>
              <a:t>WebView打开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9628631" y="4160520"/>
            <a:ext cx="256032" cy="201168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875520" y="3794760"/>
            <a:ext cx="1600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21240" y="40690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Calibri"/>
              </a:rPr>
              <a:t>会话内交互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" y="539496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" y="553212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45309"/>
                </a:solidFill>
                <a:latin typeface="Calibri"/>
              </a:rPr>
              <a:t>P0</a:t>
            </a:r>
          </a:p>
          <a:p>
            <a:r>
              <a:rPr sz="1100" b="0">
                <a:solidFill>
                  <a:srgbClr val="334155"/>
                </a:solidFill>
                <a:latin typeface="Calibri"/>
              </a:rPr>
              <a:t>预览容器 WebView/iframe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51760" y="539496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61488" y="553212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45309"/>
                </a:solidFill>
                <a:latin typeface="Calibri"/>
              </a:rPr>
              <a:t>P0</a:t>
            </a:r>
          </a:p>
          <a:p>
            <a:r>
              <a:rPr sz="1100" b="0">
                <a:solidFill>
                  <a:srgbClr val="334155"/>
                </a:solidFill>
                <a:latin typeface="Calibri"/>
              </a:rPr>
              <a:t>可打开的预览 URL 或 mime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83480" y="539496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93208" y="553212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45309"/>
                </a:solidFill>
                <a:latin typeface="Calibri"/>
              </a:rPr>
              <a:t>P0</a:t>
            </a:r>
          </a:p>
          <a:p>
            <a:r>
              <a:rPr sz="1100" b="0">
                <a:solidFill>
                  <a:srgbClr val="334155"/>
                </a:solidFill>
                <a:latin typeface="Calibri"/>
              </a:rPr>
              <a:t>sandbox / 预览域隔离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199" y="539496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24927" y="553212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64748B"/>
                </a:solidFill>
                <a:latin typeface="Calibri"/>
              </a:rPr>
              <a:t>P1</a:t>
            </a:r>
          </a:p>
          <a:p>
            <a:r>
              <a:rPr sz="1100" b="0">
                <a:solidFill>
                  <a:srgbClr val="334155"/>
                </a:solidFill>
                <a:latin typeface="Calibri"/>
              </a:rPr>
              <a:t>同步就绪与刷新降级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539496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56648" y="553212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64748B"/>
                </a:solidFill>
                <a:latin typeface="Calibri"/>
              </a:rPr>
              <a:t>P2</a:t>
            </a:r>
          </a:p>
          <a:p>
            <a:r>
              <a:rPr sz="1100" b="0">
                <a:solidFill>
                  <a:srgbClr val="334155"/>
                </a:solidFill>
                <a:latin typeface="Calibri"/>
              </a:rPr>
              <a:t>流式 / 混合体验增强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645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四种实现方案对比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A 下载后渲染 · B 流式实时 · C 混合 · D 云预览服务出可渲染链接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97280"/>
            <a:ext cx="566928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0352" y="1261872"/>
            <a:ext cx="2377440" cy="292608"/>
          </a:xfrm>
          <a:prstGeom prst="roundRect">
            <a:avLst>
              <a:gd name="adj" fmla="val 4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轻量闭环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Calibri"/>
              </a:rPr>
              <a:t>方案 1 · A 下载后渲染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F766E"/>
                </a:solidFill>
                <a:latin typeface="Calibri"/>
              </a:rPr>
              <a:t>流程：</a:t>
            </a:r>
            <a:r>
              <a:rPr sz="1200" b="0">
                <a:solidFill>
                  <a:srgbClr val="334155"/>
                </a:solidFill>
                <a:latin typeface="Calibri"/>
              </a:rPr>
              <a:t>write→云空间→REST 拉全文→srcdoc/loadData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F766E"/>
                </a:solidFill>
                <a:latin typeface="Calibri"/>
              </a:rPr>
              <a:t>要点：</a:t>
            </a:r>
            <a:r>
              <a:rPr sz="1200" b="0">
                <a:solidFill>
                  <a:srgbClr val="334155"/>
                </a:solidFill>
                <a:latin typeface="Calibri"/>
              </a:rPr>
              <a:t>稳、贴合现有同步；端要自己注入 HTML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F766E"/>
                </a:solidFill>
                <a:latin typeface="Calibri"/>
              </a:rPr>
              <a:t>代价：</a:t>
            </a:r>
            <a:r>
              <a:rPr sz="1200" b="0">
                <a:solidFill>
                  <a:srgbClr val="334155"/>
                </a:solidFill>
                <a:latin typeface="Calibri"/>
              </a:rPr>
              <a:t>多文件/分享较弱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66928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28232" y="1261872"/>
            <a:ext cx="2377440" cy="292608"/>
          </a:xfrm>
          <a:prstGeom prst="roundRect">
            <a:avLst>
              <a:gd name="adj" fmla="val 4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体验增强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459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Calibri"/>
              </a:rPr>
              <a:t>方案 2 · B 流式实时渲染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F766E"/>
                </a:solidFill>
                <a:latin typeface="Calibri"/>
              </a:rPr>
              <a:t>流程：</a:t>
            </a:r>
            <a:r>
              <a:rPr sz="1200" b="0">
                <a:solidFill>
                  <a:srgbClr val="334155"/>
                </a:solidFill>
                <a:latin typeface="Calibri"/>
              </a:rPr>
              <a:t>token/delta→端 buffer→边收边刷新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F766E"/>
                </a:solidFill>
                <a:latin typeface="Calibri"/>
              </a:rPr>
              <a:t>要点：</a:t>
            </a:r>
            <a:r>
              <a:rPr sz="1200" b="0">
                <a:solidFill>
                  <a:srgbClr val="334155"/>
                </a:solidFill>
                <a:latin typeface="Calibri"/>
              </a:rPr>
              <a:t>首屏快；半截标签与脚本副作用风险高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F766E"/>
                </a:solidFill>
                <a:latin typeface="Calibri"/>
              </a:rPr>
              <a:t>代价：</a:t>
            </a:r>
            <a:r>
              <a:rPr sz="1200" b="0">
                <a:solidFill>
                  <a:srgbClr val="334155"/>
                </a:solidFill>
                <a:latin typeface="Calibri"/>
              </a:rPr>
              <a:t>需独立推送通道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80"/>
            <a:ext cx="5669280" cy="256032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0352" y="4005072"/>
            <a:ext cx="2377440" cy="292608"/>
          </a:xfrm>
          <a:prstGeom prst="roundRect">
            <a:avLst>
              <a:gd name="adj" fmla="val 4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长报告体验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891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Calibri"/>
              </a:rPr>
              <a:t>方案 3 · C 混合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F766E"/>
                </a:solidFill>
                <a:latin typeface="Calibri"/>
              </a:rPr>
              <a:t>流程：</a:t>
            </a:r>
            <a:r>
              <a:rPr sz="1200" b="0">
                <a:solidFill>
                  <a:srgbClr val="334155"/>
                </a:solidFill>
                <a:latin typeface="Calibri"/>
              </a:rPr>
              <a:t>流式粗预览 + 完成后落盘定稿再替换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F766E"/>
                </a:solidFill>
                <a:latin typeface="Calibri"/>
              </a:rPr>
              <a:t>要点：</a:t>
            </a:r>
            <a:r>
              <a:rPr sz="1200" b="0">
                <a:solidFill>
                  <a:srgbClr val="334155"/>
                </a:solidFill>
                <a:latin typeface="Calibri"/>
              </a:rPr>
              <a:t>体验近 B，正确性兜底靠完整版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F766E"/>
                </a:solidFill>
                <a:latin typeface="Calibri"/>
              </a:rPr>
              <a:t>代价：</a:t>
            </a:r>
            <a:r>
              <a:rPr sz="1200" b="0">
                <a:solidFill>
                  <a:srgbClr val="334155"/>
                </a:solidFill>
                <a:latin typeface="Calibri"/>
              </a:rPr>
              <a:t>状态机更复杂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840480"/>
            <a:ext cx="5669280" cy="256032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28232" y="4005072"/>
            <a:ext cx="2377440" cy="292608"/>
          </a:xfrm>
          <a:prstGeom prst="roundRect">
            <a:avLst>
              <a:gd name="adj" fmla="val 4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中台主路径推荐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3891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Calibri"/>
              </a:rPr>
              <a:t>方案 4 · D 云预览出链接 ★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F766E"/>
                </a:solidFill>
                <a:latin typeface="Calibri"/>
              </a:rPr>
              <a:t>流程：</a:t>
            </a:r>
            <a:r>
              <a:rPr sz="1200" b="0">
                <a:solidFill>
                  <a:srgbClr val="334155"/>
                </a:solidFill>
                <a:latin typeface="Calibri"/>
              </a:rPr>
              <a:t>发布到预览 Web 服务→返回 URL→WebView 直接打开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F766E"/>
                </a:solidFill>
                <a:latin typeface="Calibri"/>
              </a:rPr>
              <a:t>要点：</a:t>
            </a:r>
            <a:r>
              <a:rPr sz="1200" b="0">
                <a:solidFill>
                  <a:srgbClr val="334155"/>
                </a:solidFill>
                <a:latin typeface="Calibri"/>
              </a:rPr>
              <a:t>端最简；多文件/分享/统一 CSP 天然友好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0F766E"/>
                </a:solidFill>
                <a:latin typeface="Calibri"/>
              </a:rPr>
              <a:t>代价：</a:t>
            </a:r>
            <a:r>
              <a:rPr sz="1200" b="0">
                <a:solidFill>
                  <a:srgbClr val="334155"/>
                </a:solidFill>
                <a:latin typeface="Calibri"/>
              </a:rPr>
              <a:t>需养预览域（或存储签名 URL 网关）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05b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645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方案 4 详解：云预览服务 → 可渲染链接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专用（或轻量）HTTP 入口，供 WebView / iframe 直接 loadUrl</a:t>
            </a:r>
          </a:p>
        </p:txBody>
      </p:sp>
      <p:pic>
        <p:nvPicPr>
          <p:cNvPr id="7" name="Picture 6" descr="ppt-scheme-preview-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766560" cy="3200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0" y="1097280"/>
            <a:ext cx="4480560" cy="320040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1234440"/>
            <a:ext cx="4160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核心链路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1. Agent 生成 HTML（可 write 到云空间）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2. 发布到预览 Web 服务 / 签名托管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3. 返回 https://preview…/p/{id}/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4. 端 WebView.loadUrl(link)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5. 服务保证 text/html + CSP/TTL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480560"/>
            <a:ext cx="37033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端侧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不再必须 REST 拉全文再 srcdoc；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Web / 原生统一 loadUrl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4480560"/>
            <a:ext cx="37033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461772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云侧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统一承载所有 Web 预览需求；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多文件相对路径自然支持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4480560"/>
            <a:ext cx="37033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461772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与云空间关系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云空间可作源文件仓；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预览域作渲染入口（可解耦）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645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实现示例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健康报告闭环：契约 · 方案 4 主路径 · 方案 A 兜底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97280"/>
            <a:ext cx="4114800" cy="5394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健康报告串接（方案 4）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Skill 拉取运动健康数据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0604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603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生成图表化 HTML 报告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290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发布到云预览服务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（源文件仍可 write 云空间）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399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97679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工具返回 preview_url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1663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WebView 直接打开链接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1097280"/>
            <a:ext cx="7178040" cy="2331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1234440"/>
            <a:ext cx="6858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EEAD4"/>
                </a:solidFill>
                <a:latin typeface="Consolas"/>
              </a:rPr>
              <a:t>// 方案 4：发布后的工具返回（示意）</a:t>
            </a:r>
          </a:p>
          <a:p>
            <a:r>
              <a:rPr sz="1200" b="0">
                <a:solidFill>
                  <a:srgbClr val="CBD5E1"/>
                </a:solidFill>
                <a:latin typeface="Consolas"/>
              </a:rPr>
              <a:t>{ "preview_url": "https://preview.xxx/p/abc/",</a:t>
            </a:r>
          </a:p>
          <a:p>
            <a:r>
              <a:rPr sz="1200" b="0">
                <a:solidFill>
                  <a:srgbClr val="CBD5E1"/>
                </a:solidFill>
                <a:latin typeface="Consolas"/>
              </a:rPr>
              <a:t>  "expires_at": "2026-08-01T00:00:00Z",</a:t>
            </a:r>
          </a:p>
          <a:p>
            <a:r>
              <a:rPr sz="1200" b="0">
                <a:solidFill>
                  <a:srgbClr val="CBD5E1"/>
                </a:solidFill>
                <a:latin typeface="Consolas"/>
              </a:rPr>
              <a:t>  "mime": "text/html",</a:t>
            </a:r>
          </a:p>
          <a:p>
            <a:r>
              <a:rPr sz="1200" b="0">
                <a:solidFill>
                  <a:srgbClr val="CBD5E1"/>
                </a:solidFill>
                <a:latin typeface="Consolas"/>
              </a:rPr>
              <a:t>  "source_file_id": "f_xxx"  // 可选，云空间源文件 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3611880"/>
            <a:ext cx="3474720" cy="2880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749039"/>
            <a:ext cx="32004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EEAD4"/>
                </a:solidFill>
                <a:latin typeface="Consolas"/>
              </a:rPr>
              <a:t>// 方案 4 · 端侧</a:t>
            </a:r>
          </a:p>
          <a:p>
            <a:r>
              <a:rPr sz="1100" b="0">
                <a:solidFill>
                  <a:srgbClr val="CBD5E1"/>
                </a:solidFill>
                <a:latin typeface="Consolas"/>
              </a:rPr>
              <a:t>webView.settings.javaScript</a:t>
            </a:r>
          </a:p>
          <a:p>
            <a:r>
              <a:rPr sz="1100" b="0">
                <a:solidFill>
                  <a:srgbClr val="CBD5E1"/>
                </a:solidFill>
                <a:latin typeface="Consolas"/>
              </a:rPr>
              <a:t>  Enabled = true</a:t>
            </a:r>
          </a:p>
          <a:p>
            <a:r>
              <a:rPr sz="1100" b="0">
                <a:solidFill>
                  <a:srgbClr val="CBD5E1"/>
                </a:solidFill>
                <a:latin typeface="Consolas"/>
              </a:rPr>
              <a:t>webView.loadUrl(previewUrl)</a:t>
            </a:r>
          </a:p>
          <a:p>
            <a:r>
              <a:rPr sz="1100" b="0">
                <a:solidFill>
                  <a:srgbClr val="CBD5E1"/>
                </a:solidFill>
                <a:latin typeface="Consolas"/>
              </a:rPr>
              <a:t>// 或 iframe.src = url</a:t>
            </a:r>
          </a:p>
          <a:p>
            <a:r>
              <a:rPr sz="1100" b="0">
                <a:solidFill>
                  <a:srgbClr val="CBD5E1"/>
                </a:solidFill>
                <a:latin typeface="Consolas"/>
              </a:rPr>
              <a:t>// + sandbox=allow-scripts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75320" y="3611880"/>
            <a:ext cx="3520440" cy="2880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3749039"/>
            <a:ext cx="3246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EEAD4"/>
                </a:solidFill>
                <a:latin typeface="Consolas"/>
              </a:rPr>
              <a:t>// 方案 A · 兜底</a:t>
            </a:r>
          </a:p>
          <a:p>
            <a:r>
              <a:rPr sz="1200" b="0">
                <a:solidFill>
                  <a:srgbClr val="CBD5E1"/>
                </a:solidFill>
                <a:latin typeface="Consolas"/>
              </a:rPr>
              <a:t>html = await download(id)</a:t>
            </a:r>
          </a:p>
          <a:p>
            <a:r>
              <a:rPr sz="1200" b="0">
                <a:solidFill>
                  <a:srgbClr val="CBD5E1"/>
                </a:solidFill>
                <a:latin typeface="Consolas"/>
              </a:rPr>
              <a:t>iframe.sandbox =</a:t>
            </a:r>
          </a:p>
          <a:p>
            <a:r>
              <a:rPr sz="1200" b="0">
                <a:solidFill>
                  <a:srgbClr val="CBD5E1"/>
                </a:solidFill>
                <a:latin typeface="Consolas"/>
              </a:rPr>
              <a:t>  'allow-scripts'</a:t>
            </a:r>
          </a:p>
          <a:p>
            <a:r>
              <a:rPr sz="1200" b="0">
                <a:solidFill>
                  <a:srgbClr val="CBD5E1"/>
                </a:solidFill>
                <a:latin typeface="Consolas"/>
              </a:rPr>
              <a:t>iframe.srcdoc = html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01168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645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结论与建议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方案 4 作 Web 渲染中台；A 作轻量兜底；B/C 作体验增强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370332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17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问题本质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  <a:latin typeface="Calibri"/>
              </a:rPr>
              <a:t>对话内安全渲染可视化 HTML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（取数+生成+呈现），不是再造存储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70332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34840" y="137160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417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方案 4 定位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0574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  <a:latin typeface="Calibri"/>
              </a:rPr>
              <a:t>云预览服务生成可渲染链接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WebView 直接打开——中台主路径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143000"/>
            <a:ext cx="370332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0" y="137160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417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与云空间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574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  <a:latin typeface="Calibri"/>
              </a:rPr>
              <a:t>云空间作源文件仓；预览域作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HTTP 渲染入口（可解耦）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794760"/>
            <a:ext cx="370332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0690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方案组合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70916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  <a:latin typeface="Calibri"/>
              </a:rPr>
              <a:t>主路径 D；兜底 A；长等待用 C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纯 B 不作唯一路径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3794760"/>
            <a:ext cx="370332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34840" y="402336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0690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安全底线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70916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  <a:latin typeface="Calibri"/>
              </a:rPr>
              <a:t>独立预览域 + CSP/TTL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WebView 仍建议 sandbox 思维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3794760"/>
            <a:ext cx="370332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21040" y="402336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0690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下一步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70916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  <a:latin typeface="Calibri"/>
              </a:rPr>
              <a:t>预览发布 API + 短链 URL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健康报告验收：会话内 loadUrl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