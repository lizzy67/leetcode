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E6F66"/>
                </a:solidFill>
                <a:latin typeface="Microsoft YaHei"/>
              </a:rPr>
              <a:t>A G E N T · T O O L   C A L L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50" b="1">
                <a:solidFill>
                  <a:srgbClr val="1C2925"/>
                </a:solidFill>
                <a:latin typeface="Microsoft YaHei"/>
              </a:rPr>
              <a:t>工具结果引用：让模型写「引用」，让 Runtime 填「真值」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C2925"/>
                </a:solidFill>
                <a:latin typeface="Microsoft YaHei"/>
              </a:rPr>
              <a:t>上一个工具的结果不再由模型抄进下游参数，而是写一个引用 ${resultId.path}；Runtime 在工具执行前从工作记忆取出真值、按需转换、校验合法，再去调用工具。</a:t>
            </a:r>
            <a:r>
              <a:rPr sz="100" b="0">
                <a:solidFill>
                  <a:srgbClr val="1C2925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8872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0B544E"/>
                </a:solidFill>
                <a:latin typeface="Microsoft YaHei"/>
              </a:rPr>
              <a:t>真值不经模型之手，存量工具一行不改。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11057839" cy="20320"/>
          </a:xfrm>
          <a:prstGeom prst="rect">
            <a:avLst/>
          </a:prstGeom>
          <a:solidFill>
            <a:srgbClr val="1C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154076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为什么要做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C2925"/>
                </a:solidFill>
                <a:latin typeface="Microsoft YaHei"/>
              </a:rPr>
              <a:t>下一个工具的参数常来自上一个工具的结果：文件 URI、对象 ID、大段文本、一整个列表。现在要先整段回灌上下文，再由模型原样抄进下游参数——长 URI 抄着抄着就断了；结构不一致时还要模型改写大段 JSON，每一轮都在烧 Token。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128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1C2925"/>
                </a:solidFill>
                <a:latin typeface="Microsoft YaHei"/>
              </a:rPr>
              <a:t>抄不准 </a:t>
            </a:r>
            <a:r>
              <a:rPr sz="900" b="0">
                <a:solidFill>
                  <a:srgbClr val="6B7A74"/>
                </a:solidFill>
                <a:latin typeface="Microsoft YaHei"/>
              </a:rPr>
              <a:t>长值复述易截断改写　　</a:t>
            </a:r>
            <a:r>
              <a:rPr sz="900" b="1">
                <a:solidFill>
                  <a:srgbClr val="1C2925"/>
                </a:solidFill>
                <a:latin typeface="Microsoft YaHei"/>
              </a:rPr>
              <a:t>太昂贵 </a:t>
            </a:r>
            <a:r>
              <a:rPr sz="900" b="0">
                <a:solidFill>
                  <a:srgbClr val="6B7A74"/>
                </a:solidFill>
                <a:latin typeface="Microsoft YaHei"/>
              </a:rPr>
              <a:t>大结果反复回灌，Token与时延一起涨　　</a:t>
            </a:r>
            <a:r>
              <a:rPr sz="900" b="1">
                <a:solidFill>
                  <a:srgbClr val="1C2925"/>
                </a:solidFill>
                <a:latin typeface="Microsoft YaHei"/>
              </a:rPr>
              <a:t>改不动 </a:t>
            </a:r>
            <a:r>
              <a:rPr sz="900" b="0">
                <a:solidFill>
                  <a:srgbClr val="6B7A74"/>
                </a:solidFill>
                <a:latin typeface="Microsoft YaHei"/>
              </a:rPr>
              <a:t>结构适配靠模型改JSON或逐个改工具，都不划算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510027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方案主链路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2542032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9AA8A2"/>
                </a:solidFill>
                <a:latin typeface="Microsoft YaHei"/>
              </a:rPr>
              <a:t>Reference → Resolve → Invoke，全部发生在工具执行之前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779776"/>
            <a:ext cx="2029968" cy="27940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07208"/>
            <a:ext cx="2029968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6207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工具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17520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1C2925"/>
                </a:solidFill>
                <a:latin typeface="Microsoft YaHei"/>
              </a:rPr>
              <a:t>结果入库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09544"/>
            <a:ext cx="18470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6B7A74"/>
                </a:solidFill>
                <a:latin typeface="Microsoft YaHei"/>
              </a:rPr>
              <a:t>结果默认写入工作记忆，得到短标识 resultId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0612" y="3081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6F66"/>
                </a:solidFill>
                <a:latin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2779776"/>
            <a:ext cx="2029968" cy="27940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807208"/>
            <a:ext cx="2029968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286207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3017520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1C2925"/>
                </a:solidFill>
                <a:latin typeface="Microsoft YaHei"/>
              </a:rPr>
              <a:t>按 Policy 送模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209544"/>
            <a:ext cx="18470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6B7A74"/>
                </a:solidFill>
                <a:latin typeface="Microsoft YaHei"/>
              </a:rPr>
              <a:t>命中 mask policy 的字段换成引用，其余全量可见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0036" y="3081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6F66"/>
                </a:solidFill>
                <a:latin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2779776"/>
            <a:ext cx="2029968" cy="27940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5776" y="2807208"/>
            <a:ext cx="2029968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286207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3017520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1C2925"/>
                </a:solidFill>
                <a:latin typeface="Microsoft YaHei"/>
              </a:rPr>
              <a:t>只写引用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3209544"/>
            <a:ext cx="18470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6B7A74"/>
                </a:solidFill>
                <a:latin typeface="Microsoft YaHei"/>
              </a:rPr>
              <a:t>下游参数填 ${resultId.path}，可见与否都不复述真值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9459" y="3081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6F66"/>
                </a:solidFill>
                <a:latin typeface="Microsoft YaHe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779776"/>
            <a:ext cx="2029968" cy="27940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2807208"/>
            <a:ext cx="2029968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86207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Runtime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017520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1C2925"/>
                </a:solidFill>
                <a:latin typeface="Microsoft YaHei"/>
              </a:rPr>
              <a:t>求值·转换·校验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209544"/>
            <a:ext cx="18470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6B7A74"/>
                </a:solidFill>
                <a:latin typeface="Microsoft YaHei"/>
              </a:rPr>
              <a:t>查记忆回填真值，按策略适配结构，验完Schema与权限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8884" y="3081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6F66"/>
                </a:solidFill>
                <a:latin typeface="Microsoft YaHe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64624" y="2779776"/>
            <a:ext cx="2029968" cy="27940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4624" y="2807208"/>
            <a:ext cx="2029968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3" y="286207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工具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3" y="3017520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1C2925"/>
                </a:solidFill>
                <a:latin typeface="Microsoft YaHei"/>
              </a:rPr>
              <a:t>真值执行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3" y="3209544"/>
            <a:ext cx="18470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800" b="0">
                <a:solidFill>
                  <a:srgbClr val="6B7A74"/>
                </a:solidFill>
                <a:latin typeface="Microsoft YaHei"/>
              </a:rPr>
              <a:t>校验通过才调用；结果再入库，链路闭环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7673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" y="37536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两种场景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7" y="3785615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9AA8A2"/>
                </a:solidFill>
                <a:latin typeface="Microsoft YaHei"/>
              </a:rPr>
              <a:t>按「模型要不要看到这个值」分流，殊途同归于引用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023360"/>
            <a:ext cx="53003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>
                <a:solidFill>
                  <a:srgbClr val="9AA8A2"/>
                </a:solidFill>
                <a:latin typeface="Microsoft YaHei"/>
              </a:rPr>
              <a:t>场景一 · 可见但引用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197096"/>
            <a:ext cx="53003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结果全量进上下文，参数仍写引用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4416552"/>
            <a:ext cx="530031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40" b="0">
                <a:solidFill>
                  <a:srgbClr val="1C2925"/>
                </a:solidFill>
                <a:latin typeface="Microsoft YaHei"/>
              </a:rPr>
              <a:t>模型需要读内容才能决策：工具返回原样进入上下文，推理照常。唯一约束是传给下游时参数写 ${resultId.path}，不许把看过的内容再抄一遍——「看」与「传」分开，由 Skill 约定与提示词共同约束。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956048"/>
            <a:ext cx="5300319" cy="3840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956048"/>
            <a:ext cx="20320" cy="384048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4992624"/>
            <a:ext cx="5117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80" b="0">
                <a:solidFill>
                  <a:srgbClr val="9AA8A2"/>
                </a:solidFill>
                <a:latin typeface="Microsoft YaHei"/>
              </a:rPr>
              <a:t>上下文：</a:t>
            </a:r>
            <a:r>
              <a:rPr sz="780" b="0">
                <a:solidFill>
                  <a:srgbClr val="1C2925"/>
                </a:solidFill>
                <a:latin typeface="Microsoft YaHei"/>
              </a:rPr>
              <a:t>text = "血糖偏高，建议…"（全量可见）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80" b="0">
                <a:solidFill>
                  <a:srgbClr val="9AA8A2"/>
                </a:solidFill>
                <a:latin typeface="Microsoft YaHei"/>
              </a:rPr>
              <a:t>模型出参：</a:t>
            </a:r>
            <a:r>
              <a:rPr sz="780" b="1">
                <a:solidFill>
                  <a:srgbClr val="0B544E"/>
                </a:solidFill>
                <a:latin typeface="Microsoft YaHei"/>
              </a:rPr>
              <a:t>report(content = ${e5f6a7b8.text})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5847" y="4069080"/>
            <a:ext cx="9525" cy="129844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4447" y="4023360"/>
            <a:ext cx="53003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>
                <a:solidFill>
                  <a:srgbClr val="9AA8A2"/>
                </a:solidFill>
                <a:latin typeface="Microsoft YaHei"/>
              </a:rPr>
              <a:t>场景二 · Mask 后不可见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4447" y="4197096"/>
            <a:ext cx="53003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Policy 注入掩码，模型全程不接触真值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4447" y="4416552"/>
            <a:ext cx="530031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40" b="0">
                <a:solidFill>
                  <a:srgbClr val="1C2925"/>
                </a:solidFill>
                <a:latin typeface="Microsoft YaHei"/>
              </a:rPr>
              <a:t>模型不需要理解的值（文件URI、对象ID等指针字段），送模前就替换成引用。规则由两层 Policy 注入：通用 Policy 按字段名兜底（fileUri、fileId、*Url…），业务 Policy 按工具粒度增删覆盖，业务优先。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4447" y="4956048"/>
            <a:ext cx="5300319" cy="3840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24447" y="4956048"/>
            <a:ext cx="20320" cy="384048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4175" y="4992624"/>
            <a:ext cx="5117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80" b="0">
                <a:solidFill>
                  <a:srgbClr val="9AA8A2"/>
                </a:solidFill>
                <a:latin typeface="Microsoft YaHei"/>
              </a:rPr>
              <a:t>真值：</a:t>
            </a:r>
            <a:r>
              <a:rPr sz="780" b="0">
                <a:solidFill>
                  <a:srgbClr val="1C2925"/>
                </a:solidFill>
                <a:latin typeface="Microsoft YaHei"/>
              </a:rPr>
              <a:t>fileUri = "https://…/very/long/path?token=…"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80" b="0">
                <a:solidFill>
                  <a:srgbClr val="9AA8A2"/>
                </a:solidFill>
                <a:latin typeface="Microsoft YaHei"/>
              </a:rPr>
              <a:t>送模后：</a:t>
            </a:r>
            <a:r>
              <a:rPr sz="780" b="1">
                <a:solidFill>
                  <a:srgbClr val="0B544E"/>
                </a:solidFill>
                <a:latin typeface="Microsoft YaHei"/>
              </a:rPr>
              <a:t>fileUri = ${a1b2c3d4.fileUri}</a:t>
            </a:r>
            <a:r>
              <a:rPr sz="780" b="0">
                <a:solidFill>
                  <a:srgbClr val="6B7A74"/>
                </a:solidFill>
                <a:latin typeface="Microsoft YaHei"/>
              </a:rPr>
              <a:t>  ← 所见即所填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4681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" y="545439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真值与保障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705856"/>
            <a:ext cx="53003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0B544E"/>
                </a:solidFill>
                <a:latin typeface="Microsoft YaHei"/>
              </a:rPr>
              <a:t>真值从哪来、怎么变  </a:t>
            </a:r>
            <a:r>
              <a:rPr sz="840" b="0">
                <a:solidFill>
                  <a:srgbClr val="1C2925"/>
                </a:solidFill>
                <a:latin typeface="Microsoft YaHei"/>
              </a:rPr>
              <a:t>只从工作记忆取（全量结果集→工具适配视图）；resultId 由 Runtime 生成并映射 toolCallId。结构不一致时按参数策略转换：[563,728] → [{"file_id":"563"},…]。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5847" y="5724144"/>
            <a:ext cx="9525" cy="47548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4447" y="5705856"/>
            <a:ext cx="53003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0B544E"/>
                </a:solidFill>
                <a:latin typeface="Microsoft YaHei"/>
              </a:rPr>
              <a:t>出错怎么办  </a:t>
            </a:r>
            <a:r>
              <a:rPr sz="840" b="0">
                <a:solidFill>
                  <a:srgbClr val="1C2925"/>
                </a:solidFill>
                <a:latin typeface="Microsoft YaHei"/>
              </a:rPr>
              <a:t>解析失败、字段缺失、转换出错一律短路，${…} 绝不透传，错误回模型改写重试；结果带作用域与有效期，并行链路必须显式写 resultId。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0B544E"/>
                </a:solidFill>
                <a:latin typeface="Microsoft YaHei"/>
              </a:rPr>
              <a:t>省 Token</a:t>
            </a:r>
            <a:r>
              <a:rPr sz="850" b="0">
                <a:solidFill>
                  <a:srgbClr val="6B7A74"/>
                </a:solidFill>
                <a:latin typeface="Microsoft YaHei"/>
              </a:rPr>
              <a:t>　大结果不再回灌复述　　</a:t>
            </a:r>
            <a:r>
              <a:rPr sz="950" b="1">
                <a:solidFill>
                  <a:srgbClr val="0B544E"/>
                </a:solidFill>
                <a:latin typeface="Microsoft YaHei"/>
              </a:rPr>
              <a:t>抄不错</a:t>
            </a:r>
            <a:r>
              <a:rPr sz="850" b="0">
                <a:solidFill>
                  <a:srgbClr val="6B7A74"/>
                </a:solidFill>
                <a:latin typeface="Microsoft YaHei"/>
              </a:rPr>
              <a:t>　真值不经模型之手　　</a:t>
            </a:r>
            <a:r>
              <a:rPr sz="950" b="1">
                <a:solidFill>
                  <a:srgbClr val="0B544E"/>
                </a:solidFill>
                <a:latin typeface="Microsoft YaHei"/>
              </a:rPr>
              <a:t>结构解耦</a:t>
            </a:r>
            <a:r>
              <a:rPr sz="850" b="0">
                <a:solidFill>
                  <a:srgbClr val="6B7A74"/>
                </a:solidFill>
                <a:latin typeface="Microsoft YaHei"/>
              </a:rPr>
              <a:t>　Schema差异由策略消化　　</a:t>
            </a:r>
            <a:r>
              <a:rPr sz="950" b="1">
                <a:solidFill>
                  <a:srgbClr val="0B544E"/>
                </a:solidFill>
                <a:latin typeface="Microsoft YaHei"/>
              </a:rPr>
              <a:t>零改动</a:t>
            </a:r>
            <a:r>
              <a:rPr sz="850" b="0">
                <a:solidFill>
                  <a:srgbClr val="6B7A74"/>
                </a:solidFill>
                <a:latin typeface="Microsoft YaHei"/>
              </a:rPr>
              <a:t>　存量工具无感接入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