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113099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1">
                <a:solidFill>
                  <a:srgbClr val="0E6F66"/>
                </a:solidFill>
                <a:latin typeface="Microsoft YaHei"/>
              </a:rPr>
              <a:t>A G E N T · T O O L   C A L L I N G · E X A M P L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900" b="1">
                <a:solidFill>
                  <a:srgbClr val="1C2925"/>
                </a:solidFill>
                <a:latin typeface="Microsoft YaHei"/>
              </a:rPr>
              <a:t>端到端样例：搜图 → 拼图 → 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950" b="0">
                <a:solidFill>
                  <a:srgbClr val="1C2925"/>
                </a:solidFill>
                <a:latin typeface="Microsoft YaHei"/>
              </a:rPr>
              <a:t>用户一句「把上周的滑雪照片拼成一张长图，发到我的相册笔记」，三个工具串联完成。全程模型只写引用：</a:t>
            </a:r>
            <a:r>
              <a:rPr sz="950" b="1">
                <a:solidFill>
                  <a:srgbClr val="0B544E"/>
                </a:solidFill>
                <a:latin typeface="Microsoft YaHei"/>
              </a:rPr>
              <a:t>ID 列表和长 URI 被 mask、从未见过真值；长文案可见、供推理，但传参仍是引用。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20320"/>
          </a:xfrm>
          <a:prstGeom prst="rect">
            <a:avLst/>
          </a:prstGeom>
          <a:solidFill>
            <a:srgbClr val="1C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2893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三步执行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32588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9AA8A2"/>
                </a:solidFill>
                <a:latin typeface="Microsoft YaHei"/>
              </a:rPr>
              <a:t>字段标记：可见 = 模型能读到内容　mask = 送模前已换成引用，模型只见占位符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5818" y="1609344"/>
            <a:ext cx="9525" cy="312724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5876" y="1609344"/>
            <a:ext cx="9525" cy="312724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1 · 工具 searchPhotos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搜索照片，结果入库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工具返回（Runtime 所见，resultId = r1）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103120"/>
            <a:ext cx="3490874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103120"/>
            <a:ext cx="20320" cy="841248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148839"/>
            <a:ext cx="332628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"merged_id_list": [563, 728, 991],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"coverUri": "https://photo.cloud/u9f3a…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?sig=eyJhbGciOi…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（214 字符）</a:t>
            </a:r>
            <a:r>
              <a:rPr sz="750" b="0">
                <a:solidFill>
                  <a:srgbClr val="1C2925"/>
                </a:solidFill>
                <a:latin typeface="Consolas"/>
              </a:rPr>
              <a:t>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"summary": "找到3张滑雪照片，1月18日雪场"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999232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送模后（模型所见）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145536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145536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91256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merged_id_list: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${r1.merged_id_list}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</a:t>
            </a:r>
            <a:r>
              <a:rPr sz="750" b="1">
                <a:solidFill>
                  <a:srgbClr val="A05A1F"/>
                </a:solidFill>
                <a:latin typeface="Consolas"/>
              </a:rPr>
              <a:t>← mask·通用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coverUri: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${r1.coverUri}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← mask·通用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summary: "找到3张滑雪照片…"  </a:t>
            </a:r>
            <a:r>
              <a:rPr sz="750" b="1">
                <a:solidFill>
                  <a:srgbClr val="1D5F3F"/>
                </a:solidFill>
                <a:latin typeface="Consolas"/>
              </a:rPr>
              <a:t>← 可见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13632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模型据 summary 向用户播报「找到3张」；ID 和封面 URI 它不需要懂，只需拿得到。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0410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2 · 工具 createCollage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0410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引用 ID 列表拼图，结果入库 r2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0410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模型出参（照抄所见占位符）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0410" y="2103120"/>
            <a:ext cx="3490874" cy="43891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0410" y="2103120"/>
            <a:ext cx="20320" cy="43891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1850" y="2148839"/>
            <a:ext cx="332628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createCollage({ images: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${r1.merged_id_list}</a:t>
            </a:r>
            <a:r>
              <a:rPr sz="750" b="0">
                <a:solidFill>
                  <a:srgbClr val="1C2925"/>
                </a:solidFill>
                <a:latin typeface="Consolas"/>
              </a:rPr>
              <a:t>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style: "long-strip" })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0410" y="259689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Runtime beforeHook：先求值，再按 policy 转换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0410" y="2743200"/>
            <a:ext cx="3490874" cy="43891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0410" y="2743200"/>
            <a:ext cx="20320" cy="43891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1850" y="2788920"/>
            <a:ext cx="332628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resolve → </a:t>
            </a:r>
            <a:r>
              <a:rPr sz="750" b="0">
                <a:solidFill>
                  <a:srgbClr val="1C2925"/>
                </a:solidFill>
                <a:latin typeface="Consolas"/>
              </a:rPr>
              <a:t>[563, 728, 991]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transform → </a:t>
            </a:r>
            <a:r>
              <a:rPr sz="750" b="0">
                <a:solidFill>
                  <a:srgbClr val="1C2925"/>
                </a:solidFill>
                <a:latin typeface="Consolas"/>
              </a:rPr>
              <a:t>[{"file_id":"563"},{"file_id":"728"},…]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0410" y="323697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工具返回（入库 r2）→ 送模后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50410" y="3383280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50410" y="3383280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1850" y="3429000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collageUri: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${r2.collageUri}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← mask·业务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aiDesc: "三张照片自上而下：雪道全景、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腾空瞬间、雪场合影…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（180 字）</a:t>
            </a:r>
            <a:r>
              <a:rPr sz="750" b="0">
                <a:solidFill>
                  <a:srgbClr val="1C2925"/>
                </a:solidFill>
                <a:latin typeface="Consolas"/>
              </a:rPr>
              <a:t>"  </a:t>
            </a:r>
            <a:r>
              <a:rPr sz="750" b="1">
                <a:solidFill>
                  <a:srgbClr val="1D5F3F"/>
                </a:solidFill>
                <a:latin typeface="Consolas"/>
              </a:rPr>
              <a:t>← 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0410" y="4151376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长 URI 被 mask；长文案可见，模型读它确认拼图效果、决定是否直接用作笔记正文。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0468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3 · 工具 publishNote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0468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可见的用引用传，没见过的照抄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0468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模型出参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0468" y="2103120"/>
            <a:ext cx="3490874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70468" y="2103120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1908" y="2148839"/>
            <a:ext cx="332628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publishNote({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fileUri: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${r2.collageUri}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场景二：没见过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1">
                <a:solidFill>
                  <a:srgbClr val="A05A1F"/>
                </a:solidFill>
                <a:latin typeface="Consolas"/>
              </a:rPr>
              <a:t>   真值，照抄占位符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content: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${r2.aiDesc}</a:t>
            </a:r>
            <a:r>
              <a:rPr sz="750" b="1">
                <a:solidFill>
                  <a:srgbClr val="1D5F3F"/>
                </a:solidFill>
                <a:latin typeface="Consolas"/>
              </a:rPr>
              <a:t>  场景一：读过内容，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1">
                <a:solidFill>
                  <a:srgbClr val="1D5F3F"/>
                </a:solidFill>
                <a:latin typeface="Consolas"/>
              </a:rPr>
              <a:t>   传参仍写引用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title: "上周滑雪记录" </a:t>
            </a:r>
            <a:r>
              <a:rPr sz="750" b="0">
                <a:solidFill>
                  <a:srgbClr val="9AA8A2"/>
                </a:solidFill>
                <a:latin typeface="Consolas"/>
              </a:rPr>
              <a:t> 短字面量直接填值 })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0468" y="3127248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Runtime 求值后实际调用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0468" y="3273552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70468" y="3273552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1908" y="3319272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fileUri: "https://media.cloud/collage/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7Qx2…?token=…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（198 字符真值）</a:t>
            </a:r>
            <a:r>
              <a:rPr sz="750" b="0">
                <a:solidFill>
                  <a:srgbClr val="1C2925"/>
                </a:solidFill>
                <a:latin typeface="Consolas"/>
              </a:rPr>
              <a:t>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content: "三张照片自上而下：…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（180 字全文）</a:t>
            </a:r>
            <a:r>
              <a:rPr sz="750" b="0">
                <a:solidFill>
                  <a:srgbClr val="1C2925"/>
                </a:solidFill>
                <a:latin typeface="Consolas"/>
              </a:rPr>
              <a:t>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0468" y="4041648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发布成功，noteId 再入库。整条链路模型没抄过一个长值，Token 只花在真正需要读的内容上。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484632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483717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本例的 Policy 配置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1" y="48737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9AA8A2"/>
                </a:solidFill>
                <a:latin typeface="Microsoft YaHei"/>
              </a:rPr>
              <a:t>mask 决定「模型看什么」，beforeHook 决定「工具收什么」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5847" y="5138927"/>
            <a:ext cx="9525" cy="1188720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5120640"/>
            <a:ext cx="53368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1">
                <a:solidFill>
                  <a:srgbClr val="0B544E"/>
                </a:solidFill>
                <a:latin typeface="Microsoft YaHei"/>
              </a:rPr>
              <a:t>Mask Policy：通用兜底 + 业务覆盖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321807"/>
            <a:ext cx="5336895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0352" y="5321807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367527"/>
            <a:ext cx="5172303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global.maskPolicy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fields: ["*Uri","*Url","*_id_list","fileId"] }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searchPhotos.maskPolicy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keep_visible: ["summary"] }</a:t>
            </a:r>
            <a:r>
              <a:rPr sz="750" b="0">
                <a:solidFill>
                  <a:srgbClr val="9AA8A2"/>
                </a:solidFill>
                <a:latin typeface="Consolas"/>
              </a:rPr>
              <a:t>   # 摘要留给模型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keep_visible: ["aiDesc"] }</a:t>
            </a:r>
            <a:r>
              <a:rPr sz="750" b="0">
                <a:solidFill>
                  <a:srgbClr val="9AA8A2"/>
                </a:solidFill>
                <a:latin typeface="Consolas"/>
              </a:rPr>
              <a:t>   # 长文案供推理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# coverUri / collageUri / merged_id_list 命中通用规则被 mask；业务规则显式放行可见字段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4447" y="5120640"/>
            <a:ext cx="53368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1">
                <a:solidFill>
                  <a:srgbClr val="0B544E"/>
                </a:solidFill>
                <a:latin typeface="Microsoft YaHei"/>
              </a:rPr>
              <a:t>BeforeHook Policy：入参结构转换（JSONata）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4447" y="5321807"/>
            <a:ext cx="5336895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24447" y="5321807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5887" y="5367527"/>
            <a:ext cx="5172303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createCollage.beforeHookPolicy 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images: "$map(</a:t>
            </a:r>
            <a:r>
              <a:rPr sz="750" b="1">
                <a:solidFill>
                  <a:srgbClr val="0B544E"/>
                </a:solidFill>
                <a:latin typeface="Consolas"/>
              </a:rPr>
              <a:t>$</a:t>
            </a:r>
            <a:r>
              <a:rPr sz="750" b="0">
                <a:solidFill>
                  <a:srgbClr val="1C2925"/>
                </a:solidFill>
                <a:latin typeface="Consolas"/>
              </a:rPr>
              <a:t>, function($v) {{ 'file_id': $string($v) }})"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}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# $ = 引用展开后的真实列表；限量取前 18：$map($[[0..17]], …)；求值失败即短路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" y="6382512"/>
            <a:ext cx="11130991" cy="9525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6492240"/>
            <a:ext cx="111309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900" b="1">
                <a:solidFill>
                  <a:srgbClr val="0B544E"/>
                </a:solidFill>
                <a:latin typeface="Microsoft YaHei"/>
              </a:rPr>
              <a:t>ID 列表 / 长 URI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mask 后模型从未见过，占位符原样穿过三步　　</a:t>
            </a:r>
            <a:r>
              <a:rPr sz="900" b="1">
                <a:solidFill>
                  <a:srgbClr val="0B544E"/>
                </a:solidFill>
                <a:latin typeface="Microsoft YaHei"/>
              </a:rPr>
              <a:t>长文案 aiDesc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可见、可推理，传参仍是 ${r2.aiDesc}　　</a:t>
            </a:r>
            <a:r>
              <a:rPr sz="900" b="1">
                <a:solidFill>
                  <a:srgbClr val="0B544E"/>
                </a:solidFill>
                <a:latin typeface="Microsoft YaHei"/>
              </a:rPr>
              <a:t>短字面量 title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模型自己生成，照常直接填值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