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A5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小艺 Camera Tab（UEC）智能感知方案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8C8D0"/>
                </a:solidFill>
                <a:latin typeface="Microsoft YaHei"/>
                <a:ea typeface="Microsoft YaHei"/>
              </a:rPr>
              <a:t>预览流获取 · 稳定帧门控 · 端侧模型推荐 · 拍摄取 RGB + 深度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E7C86"/>
                </a:solidFill>
                <a:latin typeface="Microsoft YaHei"/>
                <a:ea typeface="Microsoft YaHei"/>
              </a:rPr>
              <a:t>方案评审 · 架构 / 关键流程 / 接口 / 风险 / 待决策项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0E8EA"/>
                </a:solidFill>
                <a:latin typeface="Microsoft YaHei"/>
                <a:ea typeface="Microsoft YaHei"/>
              </a:rPr>
              <a:t>小艺 × 相机 App × 相机框架/HAL 协同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B3C"/>
                </a:solidFill>
                <a:latin typeface="Microsoft YaHei"/>
                <a:ea typeface="Microsoft YaHei"/>
              </a:rPr>
              <a:t>背景与目标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C"/>
                </a:solidFill>
                <a:latin typeface="Microsoft YaHei"/>
                <a:ea typeface="Microsoft YaHei"/>
              </a:rPr>
              <a:t>在相机内新增「小艺」Tab：看懂画面 → 主动推荐 → 一步执行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2/11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64240" cy="9144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3444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用户价值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Microsoft YaHei"/>
                <a:ea typeface="Microsoft YaHei"/>
              </a:rPr>
              <a:t>取景时实时理解内容，弹出可点击 chips，
少操作直达结果（识物 / 推荐 / AR）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23444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41732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2F6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业务价值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8288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Microsoft YaHei"/>
                <a:ea typeface="Microsoft YaHei"/>
              </a:rPr>
              <a:t>小艺能力以 UEC 形式可插拔进相机，
独立迭代、不改相机主流程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23444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AE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21040" y="141732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技术目标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8288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Microsoft YaHei"/>
                <a:ea typeface="Microsoft YaHei"/>
              </a:rPr>
              <a:t>稳定拿到预览流与运动状态；
按需拿到对齐的 RGB + 深度；端侧闭环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11109960" cy="2697480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Microsoft YaHei"/>
                <a:ea typeface="Microsoft YaHei"/>
              </a:rPr>
              <a:t>核心能力链路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977639"/>
            <a:ext cx="1600200" cy="146304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2F6FE5"/>
                </a:solidFill>
                <a:latin typeface="Microsoft YaHei"/>
                <a:ea typeface="Microsoft YaHei"/>
              </a:rPr>
              <a:t>预览流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相机配流</a:t>
            </a:r>
          </a:p>
          <a:p>
            <a:pPr algn="ctr"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小艺消费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350008" y="4617720"/>
            <a:ext cx="182880" cy="146304"/>
          </a:xfrm>
          <a:prstGeom prst="rightArrow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42032" y="3977639"/>
            <a:ext cx="1600200" cy="146304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2F6FE5"/>
                </a:solidFill>
                <a:latin typeface="Microsoft YaHei"/>
                <a:ea typeface="Microsoft YaHei"/>
              </a:rPr>
              <a:t>运动 meta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随帧实时</a:t>
            </a:r>
          </a:p>
          <a:p>
            <a:pPr algn="ctr"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上传应用层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60520" y="4617720"/>
            <a:ext cx="182880" cy="146304"/>
          </a:xfrm>
          <a:prstGeom prst="rightArrow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52544" y="3977639"/>
            <a:ext cx="1600200" cy="146304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稳定帧门控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独立模块</a:t>
            </a:r>
          </a:p>
          <a:p>
            <a:pPr algn="ctr"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判定触发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71031" y="4617720"/>
            <a:ext cx="182880" cy="146304"/>
          </a:xfrm>
          <a:prstGeom prst="rightArrow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63055" y="3977639"/>
            <a:ext cx="1600200" cy="146304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感知 + 端侧模型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内容识别</a:t>
            </a:r>
          </a:p>
          <a:p>
            <a:pPr algn="ctr"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推荐分析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781544" y="4617720"/>
            <a:ext cx="182880" cy="146304"/>
          </a:xfrm>
          <a:prstGeom prst="rightArrow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73568" y="3977639"/>
            <a:ext cx="1600200" cy="146304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分发 / chips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规则弹出</a:t>
            </a:r>
          </a:p>
          <a:p>
            <a:pPr algn="ctr"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点击执行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592056" y="4617720"/>
            <a:ext cx="182880" cy="146304"/>
          </a:xfrm>
          <a:prstGeom prst="rightArrow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84080" y="3977639"/>
            <a:ext cx="1600200" cy="1463040"/>
          </a:xfrm>
          <a:prstGeom prst="roundRect">
            <a:avLst>
              <a:gd name="adj" fmla="val 8000"/>
            </a:avLst>
          </a:prstGeom>
          <a:solidFill>
            <a:srgbClr val="FAE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拍摄 RGB+深度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按需单次</a:t>
            </a:r>
          </a:p>
          <a:p>
            <a:pPr algn="ctr"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时间戳对齐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23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A6B7C"/>
                </a:solidFill>
                <a:latin typeface="Microsoft YaHei"/>
                <a:ea typeface="Microsoft YaHei"/>
              </a:rPr>
              <a:t>原则：摄像头会话只有一个主人（相机 App）；小艺是流的消费者与业务决策者，不直连 HAL / HDI。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B3C"/>
                </a:solidFill>
                <a:latin typeface="Microsoft YaHei"/>
                <a:ea typeface="Microsoft YaHei"/>
              </a:rPr>
              <a:t>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C"/>
                </a:solidFill>
                <a:latin typeface="Microsoft YaHei"/>
                <a:ea typeface="Microsoft YaHei"/>
              </a:rPr>
              <a:t>相机进程握相机；小艺 UEC 进程消费流并做感知、推荐与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3/11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64240" cy="9144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188720"/>
            <a:ext cx="5120640" cy="493776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FE5"/>
                </a:solidFill>
                <a:latin typeface="Microsoft YaHei"/>
                <a:ea typeface="Microsoft YaHei"/>
              </a:rPr>
              <a:t>相机 App 进程（宿主）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9164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2F6FE5"/>
                </a:solidFill>
                <a:latin typeface="Microsoft YaHei"/>
                <a:ea typeface="Microsoft YaHei"/>
              </a:rPr>
              <a:t>相机业务 + 对接小艺接口层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Start/Stop 预览 · Capture · 抢占通知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926080" y="2487168"/>
            <a:ext cx="182880" cy="256032"/>
          </a:xfrm>
          <a:prstGeom prst="downArrow">
            <a:avLst/>
          </a:prstGeom>
          <a:solidFill>
            <a:srgbClr val="2F6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2788920"/>
            <a:ext cx="46634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1A2B3C"/>
                </a:solidFill>
                <a:latin typeface="Microsoft YaHei"/>
                <a:ea typeface="Microsoft YaHei"/>
              </a:rPr>
              <a:t>Camera Framework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Session / Output 管理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926080" y="3538728"/>
            <a:ext cx="182880" cy="256032"/>
          </a:xfrm>
          <a:prstGeom prst="downArrow">
            <a:avLst/>
          </a:prstGeom>
          <a:solidFill>
            <a:srgbClr val="2F6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840480"/>
            <a:ext cx="4663440" cy="502920"/>
          </a:xfrm>
          <a:prstGeom prst="roundRect">
            <a:avLst>
              <a:gd name="adj" fmla="val 8000"/>
            </a:avLst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200" b="1">
                <a:solidFill>
                  <a:srgbClr val="5A6B7C"/>
                </a:solidFill>
                <a:latin typeface="Microsoft YaHei"/>
                <a:ea typeface="Microsoft YaHei"/>
              </a:rPr>
              <a:t>HDI（框架 ↔ HAL 接口，应用不直连）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926080" y="4361688"/>
            <a:ext cx="182880" cy="256032"/>
          </a:xfrm>
          <a:prstGeom prst="downArrow">
            <a:avLst/>
          </a:prstGeom>
          <a:solidFill>
            <a:srgbClr val="2F6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663440"/>
            <a:ext cx="46634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2F6FE5"/>
                </a:solidFill>
                <a:latin typeface="Microsoft YaHei"/>
                <a:ea typeface="Microsoft YaHei"/>
              </a:rPr>
              <a:t>Camera HAL · Sensor / ISP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连续：预览 Buffer + 运动 metadata</a:t>
            </a:r>
          </a:p>
          <a:p>
            <a:pPr algn="ctr"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按需：单次深度计算 + 对齐 RGB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0" y="2743200"/>
            <a:ext cx="1234440" cy="1463040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2834640"/>
            <a:ext cx="1188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跨进程
surfaceId
Buffer
fd / handle
metadata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715000" y="2377440"/>
            <a:ext cx="1234440" cy="201168"/>
          </a:xfrm>
          <a:prstGeom prst="rightArrow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715000" y="4434840"/>
            <a:ext cx="1234440" cy="201168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86600" y="1188720"/>
            <a:ext cx="4663440" cy="493776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12801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小艺 UEC 进程（Tab）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1691640"/>
            <a:ext cx="42976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预览消费 + 三路分发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显示 · 模型 · AR（限流）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2514600"/>
            <a:ext cx="20574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200" b="1">
                <a:solidFill>
                  <a:srgbClr val="1A2B3C"/>
                </a:solidFill>
                <a:latin typeface="Microsoft YaHei"/>
                <a:ea typeface="Microsoft YaHei"/>
              </a:rPr>
              <a:t>稳定帧门控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独立模块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motion meta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60" y="2514600"/>
            <a:ext cx="20574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200" b="1">
                <a:solidFill>
                  <a:srgbClr val="1A2B3C"/>
                </a:solidFill>
                <a:latin typeface="Microsoft YaHei"/>
                <a:ea typeface="Microsoft YaHei"/>
              </a:rPr>
              <a:t>感知 / 端侧模型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稳定后触发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345168" y="2834640"/>
            <a:ext cx="146304" cy="146304"/>
          </a:xfrm>
          <a:prstGeom prst="rightArrow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69480" y="3474720"/>
            <a:ext cx="20574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200" b="1">
                <a:solidFill>
                  <a:srgbClr val="1A2B3C"/>
                </a:solidFill>
                <a:latin typeface="Microsoft YaHei"/>
                <a:ea typeface="Microsoft YaHei"/>
              </a:rPr>
              <a:t>AR 空间建模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自有帧率/分辨率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9760" y="3474720"/>
            <a:ext cx="20574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200" b="1">
                <a:solidFill>
                  <a:srgbClr val="1A2B3C"/>
                </a:solidFill>
                <a:latin typeface="Microsoft YaHei"/>
                <a:ea typeface="Microsoft YaHei"/>
              </a:rPr>
              <a:t>分发服务 + 规则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chips 弹出 / 点击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9480" y="4434840"/>
            <a:ext cx="4297680" cy="731520"/>
          </a:xfrm>
          <a:prstGeom prst="roundRect">
            <a:avLst>
              <a:gd name="adj" fmla="val 8000"/>
            </a:avLst>
          </a:prstGeom>
          <a:solidFill>
            <a:srgbClr val="FAE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200" b="1">
                <a:solidFill>
                  <a:srgbClr val="C45C26"/>
                </a:solidFill>
                <a:latin typeface="Microsoft YaHei"/>
                <a:ea typeface="Microsoft YaHei"/>
              </a:rPr>
              <a:t>拍摄按钮 → CaptureAt(ts)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收 RGB + 深度(fd) + meta，对齐后用于推荐 / 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69480" y="5303520"/>
            <a:ext cx="4297680" cy="640080"/>
          </a:xfrm>
          <a:prstGeom prst="roundRect">
            <a:avLst>
              <a:gd name="adj" fmla="val 8000"/>
            </a:avLst>
          </a:prstGeom>
          <a:solidFill>
            <a:srgbClr val="FB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100" b="1">
                <a:solidFill>
                  <a:srgbClr val="B93A3A"/>
                </a:solidFill>
                <a:latin typeface="Microsoft YaHei"/>
                <a:ea typeface="Microsoft YaHei"/>
              </a:rPr>
              <a:t>显示层（XComponent 可用性待实测）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B3C"/>
                </a:solidFill>
                <a:latin typeface="Microsoft YaHei"/>
                <a:ea typeface="Microsoft YaHei"/>
              </a:rPr>
              <a:t>关键设计 ①｜预览流获取与三路分发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C"/>
                </a:solidFill>
                <a:latin typeface="Microsoft YaHei"/>
                <a:ea typeface="Microsoft YaHei"/>
              </a:rPr>
              <a:t>小艺提供/消费 Surface；配流由相机 App → 框架 → HAL 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4/11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64240" cy="9144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400" b="1">
                <a:solidFill>
                  <a:srgbClr val="5A6B7C"/>
                </a:solidFill>
                <a:latin typeface="Microsoft YaHei"/>
                <a:ea typeface="Microsoft YaHei"/>
              </a:rPr>
              <a:t>进 Tab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UEC 拉起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2888" y="1719072"/>
            <a:ext cx="237744" cy="182880"/>
          </a:xfrm>
          <a:prstGeom prst="rightArrow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88920" y="123444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400" b="1">
                <a:solidFill>
                  <a:srgbClr val="0E7C86"/>
                </a:solidFill>
                <a:latin typeface="Microsoft YaHei"/>
                <a:ea typeface="Microsoft YaHei"/>
              </a:rPr>
              <a:t>交换 Surface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surfaceId / 尺寸</a:t>
            </a:r>
          </a:p>
          <a:p>
            <a:pPr algn="ctr"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BT709_FULL / fps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8888" y="1719072"/>
            <a:ext cx="237744" cy="182880"/>
          </a:xfrm>
          <a:prstGeom prst="rightArrow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74920" y="123444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400" b="1">
                <a:solidFill>
                  <a:srgbClr val="2F6FE5"/>
                </a:solidFill>
                <a:latin typeface="Microsoft YaHei"/>
                <a:ea typeface="Microsoft YaHei"/>
              </a:rPr>
              <a:t>相机配流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Session 增加</a:t>
            </a:r>
          </a:p>
          <a:p>
            <a:pPr algn="ctr"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小艺 Output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4888" y="1719072"/>
            <a:ext cx="237744" cy="182880"/>
          </a:xfrm>
          <a:prstGeom prst="rightArrow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60920" y="123444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400" b="1">
                <a:solidFill>
                  <a:srgbClr val="2F6FE5"/>
                </a:solidFill>
                <a:latin typeface="Microsoft YaHei"/>
                <a:ea typeface="Microsoft YaHei"/>
              </a:rPr>
              <a:t>HAL 出图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预览 Buffer +</a:t>
            </a:r>
          </a:p>
          <a:p>
            <a:pPr algn="ctr">
              <a:spcBef>
                <a:spcPts val="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运动 meta 同 ts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90888" y="1719072"/>
            <a:ext cx="237744" cy="182880"/>
          </a:xfrm>
          <a:prstGeom prst="rightArrow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46920" y="123444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400" b="1">
                <a:solidFill>
                  <a:srgbClr val="0E7C86"/>
                </a:solidFill>
                <a:latin typeface="Microsoft YaHei"/>
                <a:ea typeface="Microsoft YaHei"/>
              </a:rPr>
              <a:t>小艺分发</a:t>
            </a:r>
          </a:p>
          <a:p>
            <a:pPr algn="ctr">
              <a:spcBef>
                <a:spcPts val="300"/>
              </a:spcBef>
            </a:pPr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显示 / 模型 / 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51760"/>
            <a:ext cx="5486400" cy="3429000"/>
          </a:xfrm>
          <a:prstGeom prst="roundRect">
            <a:avLst>
              <a:gd name="adj" fmla="val 8000"/>
            </a:avLst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7614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Microsoft YaHei"/>
                <a:ea typeface="Microsoft YaHei"/>
              </a:rPr>
              <a:t>三路分发怎么做（待拍板 B）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0040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200" b="1">
                <a:solidFill>
                  <a:srgbClr val="2F6FE5"/>
                </a:solidFill>
                <a:latin typeface="Microsoft YaHei"/>
                <a:ea typeface="Microsoft YaHei"/>
              </a:rPr>
              <a:t>方案 B1：多 Output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相机一次出三路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各路独立分辨率/帧率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少拷贝，接口复杂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320040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200" b="1">
                <a:solidFill>
                  <a:srgbClr val="0E7C86"/>
                </a:solidFill>
                <a:latin typeface="Microsoft YaHei"/>
                <a:ea typeface="Microsoft YaHei"/>
              </a:rPr>
              <a:t>方案 B2：单路再 fork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小艺收一路后分发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接口简单，先跑通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需应用内降采样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显示：全分辨率（30fps）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模型：小图 + 低频（1～5fps，稳定帧触发）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AR：按算法需求单独约定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禁止：三路全帧率全分辨率裸拷贝（功耗/发热）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651760"/>
            <a:ext cx="5486400" cy="3429000"/>
          </a:xfrm>
          <a:prstGeom prst="roundRect">
            <a:avLst>
              <a:gd name="adj" fmla="val 8000"/>
            </a:avLst>
          </a:prstGeom>
          <a:solidFill>
            <a:srgbClr val="FAE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7614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5C26"/>
                </a:solidFill>
                <a:latin typeface="Microsoft YaHei"/>
                <a:ea typeface="Microsoft YaHei"/>
              </a:rPr>
              <a:t>格式与元数据契约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54680"/>
            <a:ext cx="51206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BT709_FULL = BT.709 色域语义 + Full range；决定「数值怎么解释」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需写死：实际像素格式（RGB / NV12…）、位深、stride、旋转责任方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运动 meta 随预览每帧上传：gyro / accel / 对焦 / 曝光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硬约束：meta.timestamp 与 frame.timestamp 可对齐；meta 缺失不得判稳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Surface 归属（待拍板 A）：谁创建、谁销毁、切 Tab 时谁先停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B3C"/>
                </a:solidFill>
                <a:latin typeface="Microsoft YaHei"/>
                <a:ea typeface="Microsoft YaHei"/>
              </a:rPr>
              <a:t>关键设计 ②｜稳定帧门控 → 感知 → 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C"/>
                </a:solidFill>
                <a:latin typeface="Microsoft YaHei"/>
                <a:ea typeface="Microsoft YaHei"/>
              </a:rPr>
              <a:t>门控独立成模块，挂在 Tab 业务层；感知只消费稳定事件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5/11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64240" cy="9144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2F6FE5"/>
                </a:solidFill>
                <a:latin typeface="Microsoft YaHei"/>
                <a:ea typeface="Microsoft YaHei"/>
              </a:rPr>
              <a:t>预览帧 + 运动 meta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每帧，很轻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2888" y="1810512"/>
            <a:ext cx="237744" cy="182880"/>
          </a:xfrm>
          <a:prstGeom prst="rightArrow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88920" y="12344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 w="15875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StableFrameDetector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门控：稳不稳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|gyro|/accel 阈值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连续 K 帧 / M 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8888" y="1810512"/>
            <a:ext cx="237744" cy="182880"/>
          </a:xfrm>
          <a:prstGeom prst="rightArrow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74920" y="12344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感知 Perception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内容：有什么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检测 / 识别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4888" y="1810512"/>
            <a:ext cx="237744" cy="182880"/>
          </a:xfrm>
          <a:prstGeom prst="rightArrow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60920" y="12344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端侧大模型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推荐分析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异步 + 过期丢弃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90888" y="1810512"/>
            <a:ext cx="237744" cy="182880"/>
          </a:xfrm>
          <a:prstGeom prst="rightArrow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46920" y="12344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AEBE0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分发 → chips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规则 / 冷却 / 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06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93A3A"/>
                </a:solidFill>
                <a:latin typeface="Microsoft YaHei"/>
                <a:ea typeface="Microsoft YaHei"/>
              </a:rPr>
              <a:t>不稳 → 丢弃 / 取消推理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017520"/>
            <a:ext cx="5486400" cy="306324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272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Microsoft YaHei"/>
                <a:ea typeface="Microsoft YaHei"/>
              </a:rPr>
              <a:t>为什么独立成模块（而非塞进感知前）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520440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职责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3520440"/>
            <a:ext cx="393192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稳不稳（传感器） vs 有什么（内容）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114800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复用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4114800"/>
            <a:ext cx="393192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模型、AR 关键帧、深度、chips 都订同一事件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709160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节奏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4709160"/>
            <a:ext cx="393192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每帧轻量先挡掉大部分重活，可单独调参/关闭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303520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测试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5303520"/>
            <a:ext cx="393192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喂假 meta 即可单测，不依赖整条感知链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017520"/>
            <a:ext cx="5486400" cy="3063240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1272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Microsoft YaHei"/>
                <a:ea typeface="Microsoft YaHei"/>
              </a:rPr>
              <a:t>门控输入 / 输出与参数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520440"/>
            <a:ext cx="5120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输入：MotionMetadata（gyro/accel/afState/exposure，同 ts）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可选辅助：轻量帧差 / 光流，用于无 meta 兜底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输出：OnStableFrame(ts)、OnUnstable()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参数（待拍板 L）：阈值、K 帧、M ms、冷却时间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点击拍摄仍可强制 Capture，不必非稳不可（产品定）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B3C"/>
                </a:solidFill>
                <a:latin typeface="Microsoft YaHei"/>
                <a:ea typeface="Microsoft YaHei"/>
              </a:rPr>
              <a:t>关键设计 ③｜点击拍摄：RGB + 深度 + 运动 meta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C"/>
                </a:solidFill>
                <a:latin typeface="Microsoft YaHei"/>
                <a:ea typeface="Microsoft YaHei"/>
              </a:rPr>
              <a:t>不是从旧预览里「挖」深度，而是按 timestamp 触发一次带深度的 Capture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6/11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64240" cy="9144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① 用户点拍摄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记录 targetTimestamp = T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（可先确认稳定）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2888" y="1874519"/>
            <a:ext cx="237744" cy="18288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88920" y="123444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② 小艺 → 相机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CaptureAt(T, needRgb,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needDepth, allowPause)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8888" y="1874519"/>
            <a:ext cx="237744" cy="18288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74920" y="123444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2F6FE5"/>
                </a:solidFill>
                <a:latin typeface="Microsoft YaHei"/>
                <a:ea typeface="Microsoft YaHei"/>
              </a:rPr>
              <a:t>③ 框架 → HDI → HAL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抓近 T 的 RGB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单次算深度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附运动 meta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4888" y="1874519"/>
            <a:ext cx="237744" cy="18288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60920" y="123444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AEBE0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C45C26"/>
                </a:solidFill>
                <a:latin typeface="Microsoft YaHei"/>
                <a:ea typeface="Microsoft YaHei"/>
              </a:rPr>
              <a:t>④ 回传小艺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rgb + depth fd/handle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+ 尺寸/单位/置信度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同一 timestamp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90888" y="1874519"/>
            <a:ext cx="237744" cy="18288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46920" y="123444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 w="15875">
            <a:solidFill>
              <a:srgbClr val="D0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 lIns="76200" rIns="76200"/>
          <a:lstStyle/>
          <a:p>
            <a:pPr algn="ctr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⑤ 小艺处理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map fd 读深度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对齐校验 → 模型/AR</a:t>
            </a:r>
          </a:p>
          <a:p>
            <a:pPr algn="ctr">
              <a:spcBef>
                <a:spcPts val="0"/>
              </a:spcBef>
            </a:pPr>
            <a:r>
              <a:rPr sz="1000" b="0">
                <a:solidFill>
                  <a:srgbClr val="5A6B7C"/>
                </a:solidFill>
                <a:latin typeface="Microsoft YaHei"/>
                <a:ea typeface="Microsoft YaHei"/>
              </a:rPr>
              <a:t>释放 fd，恢复预览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17520"/>
            <a:ext cx="3657600" cy="3063240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12724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Microsoft YaHei"/>
                <a:ea typeface="Microsoft YaHei"/>
              </a:rPr>
              <a:t>名词速查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2044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fd：跨进程共享大块内存的「取货号」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handle：指向 Buffer 的凭证（可含 fd）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HDI：框架 ↔ HAL 接口层，小艺不直连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深度经 HDI 上行 → 框架 → 相机 App → 小艺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017520"/>
            <a:ext cx="3657600" cy="3063240"/>
          </a:xfrm>
          <a:prstGeom prst="roundRect">
            <a:avLst>
              <a:gd name="adj" fmla="val 8000"/>
            </a:avLst>
          </a:prstGeom>
          <a:solidFill>
            <a:srgbClr val="FAE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12724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5C26"/>
                </a:solidFill>
                <a:latin typeface="Microsoft YaHei"/>
                <a:ea typeface="Microsoft YaHei"/>
              </a:rPr>
              <a:t>对齐是一等公民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520440"/>
            <a:ext cx="3291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RGB / 深度 / 运动 meta 必须绑同一 timestamp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允许 δt 时需外参与时间补偿（待拍板 H）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对不齐 → TIMESTAMP_MISMATCH，不喂模型/AR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深度 fd 谁 close、超时未释放策略（待拍板 K）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3017520"/>
            <a:ext cx="3520440" cy="306324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3127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5"/>
                </a:solidFill>
                <a:latin typeface="Microsoft YaHei"/>
                <a:ea typeface="Microsoft YaHei"/>
              </a:rPr>
              <a:t>两个产品/技术选择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52044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C：拍深度时是否短暂停预览？（画面闪 vs 深度质量）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D：RGB 用预览帧还是高质量 Still？（时延 vs 画质）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HAL 已确认：可单次算深度并控制停流；运动状态可入 meta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B3C"/>
                </a:solidFill>
                <a:latin typeface="Microsoft YaHei"/>
                <a:ea typeface="Microsoft YaHei"/>
              </a:rPr>
              <a:t>接口清单（小艺 ↔ 相机 App）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C"/>
                </a:solidFill>
                <a:latin typeface="Microsoft YaHei"/>
                <a:ea typeface="Microsoft YaHei"/>
              </a:rPr>
              <a:t>五组接口；命名可改，语义保留；应用不直接调 HDI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7/11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64240" cy="9144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34440"/>
            <a:ext cx="2103120" cy="3749039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1828800" cy="292608"/>
          </a:xfrm>
          <a:prstGeom prst="roundRect">
            <a:avLst>
              <a:gd name="adj" fmla="val 8000"/>
            </a:avLst>
          </a:prstGeom>
          <a:solidFill>
            <a:srgbClr val="2F6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能力协商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828800"/>
            <a:ext cx="1920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QueryCameraCapability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→ sizes / formats / fps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→ 多 Output / motion meta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→ 按需深度 / 可否 Pause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2" y="1234440"/>
            <a:ext cx="2103120" cy="3749039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62072" y="1371600"/>
            <a:ext cx="1828800" cy="292608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预览会话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828800"/>
            <a:ext cx="1920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ProvideSurface（争议 A）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StartPreviewForXiaoyi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OnPreviewStarted / Stopped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Pause / ResumePreview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1234440"/>
            <a:ext cx="2103120" cy="3749039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9784" y="1371600"/>
            <a:ext cx="1828800" cy="292608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帧 + 运动 meta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2352" y="1828800"/>
            <a:ext cx="1920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OnPreviewFrame（或 Surface 隐式）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OnPreviewMetadata（同 ts）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内部：OnStableFrame(ts)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约束：meta 缺失不判稳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0336" y="1234440"/>
            <a:ext cx="2103120" cy="3749039"/>
          </a:xfrm>
          <a:prstGeom prst="roundRect">
            <a:avLst>
              <a:gd name="adj" fmla="val 8000"/>
            </a:avLst>
          </a:prstGeom>
          <a:solidFill>
            <a:srgbClr val="FAE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97496" y="1371600"/>
            <a:ext cx="1828800" cy="292608"/>
          </a:xfrm>
          <a:prstGeom prst="roundRect">
            <a:avLst>
              <a:gd name="adj" fmla="val 8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拍摄 / 深度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3" y="1828800"/>
            <a:ext cx="1920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CaptureAt(ts, rgb, depth, pause)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OnCaptureResult(fd/handle, meta)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OnCaptureFailed(code)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CancelCapture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28048" y="1234440"/>
            <a:ext cx="2103120" cy="3749039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5208" y="1371600"/>
            <a:ext cx="1828800" cy="292608"/>
          </a:xfrm>
          <a:prstGeom prst="roundRect">
            <a:avLst>
              <a:gd name="adj" fmla="val 8000"/>
            </a:avLst>
          </a:prstGeom>
          <a:solidFill>
            <a:srgbClr val="5A6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生命周期 / 抢占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7776" y="1828800"/>
            <a:ext cx="1920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OnXiaoyiTabShow / Hide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OnHostCameraBusy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ReleaseAll（双向）</a:t>
            </a:r>
          </a:p>
          <a:p>
            <a:pPr>
              <a:spcBef>
                <a:spcPts val="800"/>
              </a:spcBef>
            </a:pPr>
            <a:r>
              <a:rPr sz="1100" b="0">
                <a:solidFill>
                  <a:srgbClr val="1A2B3C"/>
                </a:solidFill>
                <a:latin typeface="Microsoft YaHei"/>
                <a:ea typeface="Microsoft YaHei"/>
              </a:rPr>
              <a:t>· 错误码统一枚举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16636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B3C"/>
                </a:solidFill>
                <a:latin typeface="Microsoft YaHei"/>
                <a:ea typeface="Microsoft YaHei"/>
              </a:rPr>
              <a:t>关键说明：即便「画面画在小艺 Tab 内」，只要 Session 仍在相机 App，预览会话这组接口仍必须保留（争议 F）。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错误码建议：OK · NO_PERMISSION · CAMERA_IN_USE · SURFACE_INVALID · FORMAT_UNSUPPORTED · TIMEOUT · DEPTH_UNAVAILABLE · TIMESTAMP_MISMATCH · DEVICE_THERMAL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B3C"/>
                </a:solidFill>
                <a:latin typeface="Microsoft YaHei"/>
                <a:ea typeface="Microsoft YaHei"/>
              </a:rPr>
              <a:t>风险与应对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C"/>
                </a:solidFill>
                <a:latin typeface="Microsoft YaHei"/>
                <a:ea typeface="Microsoft YaHei"/>
              </a:rPr>
              <a:t>最大风险不是 UEC 切 Tab 慢那一下，而是「流归属 + UEC 能力边界 + 实时负载」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8/11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64240" cy="9144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34440"/>
            <a:ext cx="54864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9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640080" cy="292608"/>
          </a:xfrm>
          <a:prstGeom prst="roundRect">
            <a:avLst>
              <a:gd name="adj" fmla="val 8000"/>
            </a:avLst>
          </a:prstGeom>
          <a:solidFill>
            <a:srgbClr val="B9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4416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B3C"/>
                </a:solidFill>
                <a:latin typeface="Microsoft YaHei"/>
                <a:ea typeface="Microsoft YaHei"/>
              </a:rPr>
              <a:t>UEC 内起流 / 显示受限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风险：官方能力表曾列 UEC 不支持 XComponent；显示链路可能不可用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94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应对：样机实测；备选：宿主画预览，小艺只吃分析流 + 叠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54864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9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017520"/>
            <a:ext cx="640080" cy="292608"/>
          </a:xfrm>
          <a:prstGeom prst="roundRect">
            <a:avLst>
              <a:gd name="adj" fmla="val 8000"/>
            </a:avLst>
          </a:prstGeom>
          <a:solidFill>
            <a:srgbClr val="B9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99008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B3C"/>
                </a:solidFill>
                <a:latin typeface="Microsoft YaHei"/>
                <a:ea typeface="Microsoft YaHei"/>
              </a:rPr>
              <a:t>与主相机抢会话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3832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风险：小艺再开一套 Session 会打断主预览或失败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840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应对：单会话多输出 / Tab 级移交；进出 Tab 明确停启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526280"/>
            <a:ext cx="54864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9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63440"/>
            <a:ext cx="640080" cy="292608"/>
          </a:xfrm>
          <a:prstGeom prst="roundRect">
            <a:avLst>
              <a:gd name="adj" fmla="val 8000"/>
            </a:avLst>
          </a:prstGeom>
          <a:solidFill>
            <a:srgbClr val="B9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63600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B3C"/>
                </a:solidFill>
                <a:latin typeface="Microsoft YaHei"/>
                <a:ea typeface="Microsoft YaHei"/>
              </a:rPr>
              <a:t>端侧 LLM 跟帧负载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029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风险：满帧送模型 → 发热、掉帧、拖垮预览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486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应对：稳定帧门控 + 降频 + 异步队列 + 过期丢弃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1234440"/>
            <a:ext cx="54864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56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63640" y="1371600"/>
            <a:ext cx="640080" cy="292608"/>
          </a:xfrm>
          <a:prstGeom prst="roundRect">
            <a:avLst>
              <a:gd name="adj" fmla="val 8000"/>
            </a:avLst>
          </a:prstGeom>
          <a:solidFill>
            <a:srgbClr val="B56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中高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134416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B3C"/>
                </a:solidFill>
                <a:latin typeface="Microsoft YaHei"/>
                <a:ea typeface="Microsoft YaHei"/>
              </a:rPr>
              <a:t>推荐迟到 / chips 乱弹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1737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风险：检测+LLM 冷路径 1～3s，场景已切换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194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应对：场景稳定再推；结果带 ts；冷却、去重、置信度门槛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2880360"/>
            <a:ext cx="54864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56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3017520"/>
            <a:ext cx="640080" cy="292608"/>
          </a:xfrm>
          <a:prstGeom prst="roundRect">
            <a:avLst>
              <a:gd name="adj" fmla="val 8000"/>
            </a:avLst>
          </a:prstGeom>
          <a:solidFill>
            <a:srgbClr val="B56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99008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B3C"/>
                </a:solidFill>
                <a:latin typeface="Microsoft YaHei"/>
                <a:ea typeface="Microsoft YaHei"/>
              </a:rPr>
              <a:t>UEC 切换体感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3832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风险：首次进 Tab 冷启 几百 ms～1s，闪白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840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应对：同色背景 + placeholder；进程保活策略评估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4526280"/>
            <a:ext cx="548640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56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63640" y="4663440"/>
            <a:ext cx="640080" cy="292608"/>
          </a:xfrm>
          <a:prstGeom prst="roundRect">
            <a:avLst>
              <a:gd name="adj" fmla="val 8000"/>
            </a:avLst>
          </a:prstGeom>
          <a:solidFill>
            <a:srgbClr val="B56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中高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63600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B3C"/>
                </a:solidFill>
                <a:latin typeface="Microsoft YaHei"/>
                <a:ea typeface="Microsoft YaHei"/>
              </a:rPr>
              <a:t>生命周期 / 黑屏 / 泄漏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5029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风险：Surface 销毁顺序、fd 未释放、后台未停流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5486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应对：显隐/前后台统一停启；fd 所有权写进契约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B3C"/>
                </a:solidFill>
                <a:latin typeface="Microsoft YaHei"/>
                <a:ea typeface="Microsoft YaHei"/>
              </a:rPr>
              <a:t>待评审决策点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C"/>
                </a:solidFill>
                <a:latin typeface="Microsoft YaHei"/>
                <a:ea typeface="Microsoft YaHei"/>
              </a:rPr>
              <a:t>建议按顺序拍板：会话主人 → Surface/显示 → 格式/meta → 分发/门控 → 拍摄路径 → 二级跳转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9/11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64240" cy="9144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155680" cy="411480"/>
          </a:xfrm>
          <a:prstGeom prst="rect">
            <a:avLst/>
          </a:prstGeom>
          <a:solidFill>
            <a:srgbClr val="12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2435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2435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选项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24358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建议 / 影响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11155680" cy="676656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1755648"/>
            <a:ext cx="7863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F/M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1755648"/>
            <a:ext cx="21579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B3C"/>
                </a:solidFill>
                <a:latin typeface="Microsoft YaHei"/>
                <a:ea typeface="Microsoft YaHei"/>
              </a:rPr>
              <a:t>会话主人 &amp; 主预览策略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1755648"/>
            <a:ext cx="39867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相机 App 握机（小艺消费）vs 小艺自 openCamera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1755648"/>
            <a:ext cx="3712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建议相机握机；进 Tab 停主预览或双 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59152"/>
            <a:ext cx="11155680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468880"/>
            <a:ext cx="7863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A/G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2468880"/>
            <a:ext cx="21579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B3C"/>
                </a:solidFill>
                <a:latin typeface="Microsoft YaHei"/>
                <a:ea typeface="Microsoft YaHei"/>
              </a:rPr>
              <a:t>Surface 归属 &amp; UEC 显示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0752" y="2468880"/>
            <a:ext cx="39867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小艺建 vs 相机建；UEC 能否 XComponent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2468880"/>
            <a:ext cx="3712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先实测 G；不可用则宿主显示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72384"/>
            <a:ext cx="11155680" cy="676656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3182112"/>
            <a:ext cx="7863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J/I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3182112"/>
            <a:ext cx="21579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B3C"/>
                </a:solidFill>
                <a:latin typeface="Microsoft YaHei"/>
                <a:ea typeface="Microsoft YaHei"/>
              </a:rPr>
              <a:t>格式 &amp; 运动 meta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30752" y="3182112"/>
            <a:ext cx="39867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RGB vs YUV；meta 字段集与每帧保障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5552" y="3182112"/>
            <a:ext cx="3712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写死 pixelFormat/stride/旋转；meta 同 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85615"/>
            <a:ext cx="11155680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3895344"/>
            <a:ext cx="7863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B/L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3895344"/>
            <a:ext cx="21579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B3C"/>
                </a:solidFill>
                <a:latin typeface="Microsoft YaHei"/>
                <a:ea typeface="Microsoft YaHei"/>
              </a:rPr>
              <a:t>三路分发 &amp; 门控参数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30752" y="3895344"/>
            <a:ext cx="39867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多 Output vs 单路 fork；阈值/K 帧/M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895344"/>
            <a:ext cx="3712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先 B2 跑通，能力允许升 B1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11155680" cy="676656"/>
          </a:xfrm>
          <a:prstGeom prst="rect">
            <a:avLst/>
          </a:prstGeom>
          <a:solidFill>
            <a:srgbClr val="E8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4608576"/>
            <a:ext cx="7863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C/D/H/K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44752" y="4608576"/>
            <a:ext cx="21579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B3C"/>
                </a:solidFill>
                <a:latin typeface="Microsoft YaHei"/>
                <a:ea typeface="Microsoft YaHei"/>
              </a:rPr>
              <a:t>拍摄路径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30752" y="4608576"/>
            <a:ext cx="39867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停流否；预览帧 vs Still；δt 补偿；fd 所有权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45552" y="4608576"/>
            <a:ext cx="3712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允许短暂停；对齐失败不喂模型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212080"/>
            <a:ext cx="11155680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5321808"/>
            <a:ext cx="7863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E7C86"/>
                </a:solidFill>
                <a:latin typeface="Microsoft YaHei"/>
                <a:ea typeface="Microsoft YaHe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44752" y="5321808"/>
            <a:ext cx="21579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2B3C"/>
                </a:solidFill>
                <a:latin typeface="Microsoft YaHei"/>
                <a:ea typeface="Microsoft YaHei"/>
              </a:rPr>
              <a:t>跳第二个相机 UEC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30752" y="5321808"/>
            <a:ext cx="39867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宿主切换 vs UEC 内嵌套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45552" y="5321808"/>
            <a:ext cx="3712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宿主切换 + 先停当前流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56E1A"/>
                </a:solidFill>
                <a:latin typeface="Microsoft YaHei"/>
                <a:ea typeface="Microsoft YaHei"/>
              </a:rPr>
              <a:t>另需产品/合规确认 N：预览与深度是否落盘、端侧模型是否出域、权限告知。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B3C"/>
                </a:solidFill>
                <a:latin typeface="Microsoft YaHei"/>
                <a:ea typeface="Microsoft YaHei"/>
              </a:rPr>
              <a:t>推进与验证计划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C"/>
                </a:solidFill>
                <a:latin typeface="Microsoft YaHei"/>
                <a:ea typeface="Microsoft YaHei"/>
              </a:rPr>
              <a:t>先用样机验证两道硬门，再细化规则与交互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10/11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64240" cy="9144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3444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FB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17320"/>
            <a:ext cx="1097280" cy="292608"/>
          </a:xfrm>
          <a:prstGeom prst="roundRect">
            <a:avLst>
              <a:gd name="adj" fmla="val 8000"/>
            </a:avLst>
          </a:prstGeom>
          <a:solidFill>
            <a:srgbClr val="B9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阶段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B3C"/>
                </a:solidFill>
                <a:latin typeface="Microsoft YaHei"/>
                <a:ea typeface="Microsoft YaHei"/>
              </a:rPr>
              <a:t>技术预研（硬门）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UEC 进程能否稳定拿到并显示预览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宿主握机 + 小艺 Output 共存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运动 meta 每帧上传与 ts 对齐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08960" y="2926080"/>
            <a:ext cx="182880" cy="164592"/>
          </a:xfrm>
          <a:prstGeom prst="rightArrow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91840" y="123444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1417320"/>
            <a:ext cx="1097280" cy="292608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阶段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288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B3C"/>
                </a:solidFill>
                <a:latin typeface="Microsoft YaHei"/>
                <a:ea typeface="Microsoft YaHei"/>
              </a:rPr>
              <a:t>闭环打通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2860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稳定帧门控 → 感知 → 端侧模型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chips 弹出与点击执行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端到端时延 / 发热基线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2926080"/>
            <a:ext cx="182880" cy="164592"/>
          </a:xfrm>
          <a:prstGeom prst="rightArrow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0" y="123444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FAE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1417320"/>
            <a:ext cx="1097280" cy="292608"/>
          </a:xfrm>
          <a:prstGeom prst="roundRect">
            <a:avLst>
              <a:gd name="adj" fmla="val 8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阶段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8288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B3C"/>
                </a:solidFill>
                <a:latin typeface="Microsoft YaHei"/>
                <a:ea typeface="Microsoft YaHei"/>
              </a:rPr>
              <a:t>深度与拍摄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2860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CaptureAt → RGB + 深度 fd 回传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停流策略与对齐校验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AR 建模接入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2926080"/>
            <a:ext cx="182880" cy="164592"/>
          </a:xfrm>
          <a:prstGeom prst="rightArrow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61120" y="1234440"/>
            <a:ext cx="2651760" cy="356616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0" y="1417320"/>
            <a:ext cx="1097280" cy="292608"/>
          </a:xfrm>
          <a:prstGeom prst="roundRect">
            <a:avLst>
              <a:gd name="adj" fmla="val 8000"/>
            </a:avLst>
          </a:prstGeom>
          <a:solidFill>
            <a:srgbClr val="2F6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阶段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8288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B3C"/>
                </a:solidFill>
                <a:latin typeface="Microsoft YaHei"/>
                <a:ea typeface="Microsoft YaHei"/>
              </a:rPr>
              <a:t>体验打磨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286000"/>
            <a:ext cx="2377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UEC 冷启闪白消减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chips 冷却/去重/阈值调优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· 抢占、后台、异常恢复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1247120" cy="1097280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074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86"/>
                </a:solidFill>
                <a:latin typeface="Microsoft YaHei"/>
                <a:ea typeface="Microsoft YaHei"/>
              </a:rPr>
              <a:t>阶段 1 通过标准（Go / No-Go）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949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Microsoft YaHei"/>
                <a:ea typeface="Microsoft YaHei"/>
              </a:rPr>
              <a:t>① 小艺 Tab 内连续预览 ≥ 30 min 无黑屏/崩溃；② 进出 Tab 主预览可恢复；③ meta 与帧 ts 对齐率接近 100%；若 ① 失败则切换到「宿主显示 + 小艺分析」架构，其余设计不变。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B3C"/>
                </a:solidFill>
                <a:latin typeface="Microsoft YaHei"/>
                <a:ea typeface="Microsoft YaHei"/>
              </a:rPr>
              <a:t>结论与请求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C"/>
                </a:solidFill>
                <a:latin typeface="Microsoft YaHei"/>
                <a:ea typeface="Microsoft YaHei"/>
              </a:rPr>
              <a:t>方案可行；请评审拍板会话归属、显示位置与拍摄路径三项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B7C"/>
                </a:solidFill>
                <a:latin typeface="Microsoft YaHei"/>
                <a:ea typeface="Microsoft YaHei"/>
              </a:rPr>
              <a:t>11/11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64240" cy="9144"/>
          </a:xfrm>
          <a:prstGeom prst="rect">
            <a:avLst/>
          </a:prstGeom>
          <a:solidFill>
            <a:srgbClr val="D0D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344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E3E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536192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2F6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46304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C"/>
                </a:solidFill>
                <a:latin typeface="Microsoft YaHei"/>
                <a:ea typeface="Microsoft YaHei"/>
              </a:rPr>
              <a:t>相机 App 握相机 → 框架 → HDI → HAL；小艺 UEC 消费流、做感知与推荐；不直连 HAL/HDI。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8600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D9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87752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门控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51460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C"/>
                </a:solidFill>
                <a:latin typeface="Microsoft YaHei"/>
                <a:ea typeface="Microsoft YaHei"/>
              </a:rPr>
              <a:t>稳定帧门控独立成模块，挂 Tab 业务层；感知/模型/AR/深度都订同一事件。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33756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AE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639312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拍摄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56616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C"/>
                </a:solidFill>
                <a:latin typeface="Microsoft YaHei"/>
                <a:ea typeface="Microsoft YaHei"/>
              </a:rPr>
              <a:t>点击拍摄 = 按 timestamp 触发一次带深度的 Capture；RGB/深度/meta 同 ts 对齐。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526280"/>
            <a:ext cx="11247120" cy="1600200"/>
          </a:xfrm>
          <a:prstGeom prst="roundRect">
            <a:avLst>
              <a:gd name="adj" fmla="val 8000"/>
            </a:avLst>
          </a:prstGeom>
          <a:solidFill>
            <a:srgbClr val="12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63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Microsoft YaHei"/>
                <a:ea typeface="Microsoft YaHei"/>
              </a:rPr>
              <a:t>请评审决策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515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</a:rPr>
              <a:t>1. 同意「相机握机、小艺消费」为基线架构，并授权与相机/HAL 团队对齐接口契约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</a:rPr>
              <a:t>2. 同意先做阶段 1 样机预研（UEC 显示 + 会话共存 + meta 对齐）作为 Go/No-Go 门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</a:rPr>
              <a:t>3. 明确拍摄路径偏好：允许短暂停流取深度 / RGB 用预览帧还是 Still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