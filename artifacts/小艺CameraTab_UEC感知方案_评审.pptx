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54864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114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</a:rPr>
              <a:t>方案评审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20624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小艺 Camera Tab</a:t>
            </a:r>
          </a:p>
          <a:p>
            <a:pPr algn="l">
              <a:spcBef>
                <a:spcPts val="200"/>
              </a:spcBef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UEC 智能感知方案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4114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E0E7FF"/>
                </a:solidFill>
                <a:latin typeface="Microsoft YaHei"/>
                <a:ea typeface="Microsoft YaHei"/>
              </a:rPr>
              <a:t>预览流获取 · 稳定帧门控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E0E7FF"/>
                </a:solidFill>
                <a:latin typeface="Microsoft YaHei"/>
                <a:ea typeface="Microsoft YaHei"/>
              </a:rPr>
              <a:t>端侧模型推荐 · 拍摄取 RGB + 深度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4114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C7D2FE"/>
                </a:solidFill>
                <a:latin typeface="Microsoft YaHei"/>
                <a:ea typeface="Microsoft YaHei"/>
              </a:rPr>
              <a:t>小艺 × 相机 App × 相机框架 / HAL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143000"/>
            <a:ext cx="3291840" cy="53035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相机 HAL</a:t>
            </a:r>
          </a:p>
        </p:txBody>
      </p:sp>
      <p:sp>
        <p:nvSpPr>
          <p:cNvPr id="10" name="Oval 9"/>
          <p:cNvSpPr/>
          <p:nvPr/>
        </p:nvSpPr>
        <p:spPr>
          <a:xfrm>
            <a:off x="6071616" y="1261872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0" y="1673352"/>
            <a:ext cx="0" cy="25603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83680" y="1929384"/>
            <a:ext cx="3291840" cy="53035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相机 App</a:t>
            </a:r>
          </a:p>
        </p:txBody>
      </p:sp>
      <p:sp>
        <p:nvSpPr>
          <p:cNvPr id="13" name="Oval 12"/>
          <p:cNvSpPr/>
          <p:nvPr/>
        </p:nvSpPr>
        <p:spPr>
          <a:xfrm>
            <a:off x="6071616" y="2048255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0" y="2459736"/>
            <a:ext cx="0" cy="25603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0" y="2715768"/>
            <a:ext cx="3291840" cy="530352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小艺 UEC</a:t>
            </a:r>
          </a:p>
        </p:txBody>
      </p:sp>
      <p:sp>
        <p:nvSpPr>
          <p:cNvPr id="16" name="Oval 15"/>
          <p:cNvSpPr/>
          <p:nvPr/>
        </p:nvSpPr>
        <p:spPr>
          <a:xfrm>
            <a:off x="6071616" y="2834639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0" y="3246120"/>
            <a:ext cx="0" cy="256031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83680" y="3502152"/>
            <a:ext cx="3291840" cy="530352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稳定帧门控</a:t>
            </a:r>
          </a:p>
        </p:txBody>
      </p:sp>
      <p:sp>
        <p:nvSpPr>
          <p:cNvPr id="19" name="Oval 18"/>
          <p:cNvSpPr/>
          <p:nvPr/>
        </p:nvSpPr>
        <p:spPr>
          <a:xfrm>
            <a:off x="6071616" y="3621024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4032504"/>
            <a:ext cx="0" cy="25603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0" y="4288536"/>
            <a:ext cx="3291840" cy="530352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端侧模型</a:t>
            </a:r>
          </a:p>
        </p:txBody>
      </p:sp>
      <p:sp>
        <p:nvSpPr>
          <p:cNvPr id="22" name="Oval 21"/>
          <p:cNvSpPr/>
          <p:nvPr/>
        </p:nvSpPr>
        <p:spPr>
          <a:xfrm>
            <a:off x="6071616" y="4407407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0" y="4818888"/>
            <a:ext cx="0" cy="256032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0" y="5074920"/>
            <a:ext cx="3291840" cy="530352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chips 执行</a:t>
            </a:r>
          </a:p>
        </p:txBody>
      </p:sp>
      <p:sp>
        <p:nvSpPr>
          <p:cNvPr id="25" name="Oval 24"/>
          <p:cNvSpPr/>
          <p:nvPr/>
        </p:nvSpPr>
        <p:spPr>
          <a:xfrm>
            <a:off x="6071616" y="5193792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1188720"/>
            <a:ext cx="2194560" cy="3200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会话主人：相机 App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小艺不直连 HAL / HDI</a:t>
            </a:r>
          </a:p>
          <a:p>
            <a:pPr algn="l">
              <a:spcBef>
                <a:spcPts val="300"/>
              </a:spcBef>
            </a:pPr>
            <a:r>
              <a:rPr sz="600" b="0">
                <a:solidFill>
                  <a:srgbClr val="64748B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门控独立模块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稳定才推理，省电更准</a:t>
            </a:r>
          </a:p>
          <a:p>
            <a:pPr algn="l">
              <a:spcBef>
                <a:spcPts val="300"/>
              </a:spcBef>
            </a:pPr>
            <a:r>
              <a:rPr sz="600" b="0">
                <a:solidFill>
                  <a:srgbClr val="64748B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拍摄 = 一次带深度的 Capture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</a:rPr>
              <a:t>RGB / 深度 / meta 同 timestamp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在相机内新增「小艺」Tab：看懂画面 → 主动推荐 → 一步执行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小艺 Camera Tab（UEC）智能感知方案 · 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4183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2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3566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234440"/>
            <a:ext cx="3566160" cy="731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icrosoft YaHei"/>
                <a:ea typeface="Microsoft YaHei"/>
              </a:rPr>
              <a:t>用户价值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3154680" cy="1371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100" b="1">
                <a:solidFill>
                  <a:srgbClr val="059669"/>
                </a:solidFill>
                <a:latin typeface="Microsoft YaHei"/>
                <a:ea typeface="Microsoft YaHei"/>
              </a:rPr>
              <a:t>• </a:t>
            </a: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取景时实时理解内容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Microsoft YaHei"/>
                <a:ea typeface="Microsoft YaHei"/>
              </a:rPr>
              <a:t>• </a:t>
            </a: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弹出可点击 chips，少操作直达结果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59669"/>
                </a:solidFill>
                <a:latin typeface="Microsoft YaHei"/>
                <a:ea typeface="Microsoft YaHei"/>
              </a:rPr>
              <a:t>• </a:t>
            </a: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识物 / 推荐 / AR 空间理解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234440"/>
            <a:ext cx="3566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234440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417320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  <a:ea typeface="Microsoft YaHei"/>
              </a:rPr>
              <a:t>业务价值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1828800"/>
            <a:ext cx="3154680" cy="1371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• </a:t>
            </a: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小艺能力以 UEC 形式可插拔进相机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• </a:t>
            </a: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独立迭代，不改相机主流程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• </a:t>
            </a: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同一套感知能力可复用到其他入口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234440"/>
            <a:ext cx="356616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1234440"/>
            <a:ext cx="356616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417320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</a:rPr>
              <a:t>技术目标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828800"/>
            <a:ext cx="3154680" cy="1371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10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稳定获取预览流与运动状态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按需获取对齐的 RGB + 深度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</a:rPr>
              <a:t>端侧闭环：门控 → 模型 → 分发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03320"/>
            <a:ext cx="11091672" cy="2514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557015"/>
            <a:ext cx="1335024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核心能力链路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206240"/>
            <a:ext cx="1463040" cy="11887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预览流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相机配流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小艺消费</a:t>
            </a:r>
          </a:p>
        </p:txBody>
      </p:sp>
      <p:sp>
        <p:nvSpPr>
          <p:cNvPr id="24" name="Oval 23"/>
          <p:cNvSpPr/>
          <p:nvPr/>
        </p:nvSpPr>
        <p:spPr>
          <a:xfrm>
            <a:off x="1417320" y="406907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286000" y="4800600"/>
            <a:ext cx="32004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606040" y="4206240"/>
            <a:ext cx="1463040" cy="11887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运动 meta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随帧实时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上传应用层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0" y="406907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69080" y="4800600"/>
            <a:ext cx="32004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89120" y="4206240"/>
            <a:ext cx="1463040" cy="11887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稳定帧门控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独立模块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判定触发</a:t>
            </a:r>
          </a:p>
        </p:txBody>
      </p:sp>
      <p:sp>
        <p:nvSpPr>
          <p:cNvPr id="30" name="Oval 29"/>
          <p:cNvSpPr/>
          <p:nvPr/>
        </p:nvSpPr>
        <p:spPr>
          <a:xfrm>
            <a:off x="4983479" y="4069079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52160" y="4800600"/>
            <a:ext cx="32004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72200" y="4206240"/>
            <a:ext cx="1463040" cy="11887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感知 + 端侧模型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内容识别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推荐分析</a:t>
            </a:r>
          </a:p>
        </p:txBody>
      </p:sp>
      <p:sp>
        <p:nvSpPr>
          <p:cNvPr id="33" name="Oval 32"/>
          <p:cNvSpPr/>
          <p:nvPr/>
        </p:nvSpPr>
        <p:spPr>
          <a:xfrm>
            <a:off x="6766559" y="4069079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35240" y="4800600"/>
            <a:ext cx="320039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955279" y="4206240"/>
            <a:ext cx="1463040" cy="11887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分发 / chips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规则弹出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点击执行</a:t>
            </a:r>
          </a:p>
        </p:txBody>
      </p:sp>
      <p:sp>
        <p:nvSpPr>
          <p:cNvPr id="36" name="Oval 35"/>
          <p:cNvSpPr/>
          <p:nvPr/>
        </p:nvSpPr>
        <p:spPr>
          <a:xfrm>
            <a:off x="8549640" y="4069079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418319" y="4800600"/>
            <a:ext cx="32004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738360" y="4206240"/>
            <a:ext cx="1463040" cy="11887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拍摄 RGB+深度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按需单次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时间戳对齐</a:t>
            </a:r>
          </a:p>
        </p:txBody>
      </p:sp>
      <p:sp>
        <p:nvSpPr>
          <p:cNvPr id="39" name="Oval 38"/>
          <p:cNvSpPr/>
          <p:nvPr/>
        </p:nvSpPr>
        <p:spPr>
          <a:xfrm>
            <a:off x="10332720" y="4069079"/>
            <a:ext cx="274320" cy="27432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62356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Microsoft YaHei"/>
                <a:ea typeface="Microsoft YaHei"/>
              </a:rPr>
              <a:t>原则：摄像头会话只有一个主人（相机 App）；小艺是流的消费者与业务决策者，不直连 HAL / HDI。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相机进程握相机；小艺 UEC 进程消费流并做感知、推荐与 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小艺 Camera Tab（UEC）智能感知方案 · 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4183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3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4846320" cy="4754880"/>
          </a:xfrm>
          <a:prstGeom prst="roundRect">
            <a:avLst>
              <a:gd name="adj" fmla="val 6000"/>
            </a:avLst>
          </a:prstGeom>
          <a:solidFill>
            <a:srgbClr val="F0F6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25296"/>
            <a:ext cx="2359152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相机 App 进程（宿主）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1691640"/>
            <a:ext cx="42062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" y="1801368"/>
            <a:ext cx="54864" cy="5577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5" y="1691640"/>
            <a:ext cx="4023359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相机业务 + 对接小艺接口层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Start / Stop 预览 · CaptureAt · 抢占通知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743200"/>
            <a:ext cx="4206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" y="2852928"/>
            <a:ext cx="54864" cy="46634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2743200"/>
            <a:ext cx="4023359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Camera Framework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Session / Output 管理，下发 Capture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0332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00" b="1">
                <a:solidFill>
                  <a:srgbClr val="64748B"/>
                </a:solidFill>
                <a:latin typeface="Microsoft YaHei"/>
                <a:ea typeface="Microsoft YaHei"/>
              </a:rPr>
              <a:t>HDI ─ 框架 ↔ HAL 硬件接口层（应用不直连）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434840"/>
            <a:ext cx="42062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" y="4544568"/>
            <a:ext cx="54864" cy="1197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4434840"/>
            <a:ext cx="4023359" cy="1417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Camera HAL · Sensor / ISP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连续：预览 Buffer + 运动 metadata（同 timestamp）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按需：单次深度计算 + 对齐 RGB，可控停流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71800" y="2468880"/>
            <a:ext cx="0" cy="274320"/>
          </a:xfrm>
          <a:prstGeom prst="line">
            <a:avLst/>
          </a:prstGeom>
          <a:ln w="15875">
            <a:solidFill>
              <a:srgbClr val="2563E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71800" y="3429000"/>
            <a:ext cx="0" cy="274320"/>
          </a:xfrm>
          <a:prstGeom prst="line">
            <a:avLst/>
          </a:prstGeom>
          <a:ln w="15875">
            <a:solidFill>
              <a:srgbClr val="2563E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971800" y="4160520"/>
            <a:ext cx="0" cy="274320"/>
          </a:xfrm>
          <a:prstGeom prst="line">
            <a:avLst/>
          </a:prstGeom>
          <a:ln w="15875">
            <a:solidFill>
              <a:srgbClr val="2563E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0760" y="1325880"/>
            <a:ext cx="0" cy="4846320"/>
          </a:xfrm>
          <a:prstGeom prst="line">
            <a:avLst/>
          </a:prstGeom>
          <a:ln w="15875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66560" y="1371600"/>
            <a:ext cx="4873752" cy="4754880"/>
          </a:xfrm>
          <a:prstGeom prst="roundRect">
            <a:avLst>
              <a:gd name="adj" fmla="val 6000"/>
            </a:avLst>
          </a:prstGeom>
          <a:solidFill>
            <a:srgbClr val="F0FDF6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31152" y="1225296"/>
            <a:ext cx="2505456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小艺 UEC 进程（Tab）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1691640"/>
            <a:ext cx="43434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68312" y="1801368"/>
            <a:ext cx="54864" cy="420623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1691640"/>
            <a:ext cx="4160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预览消费 + 三路分发（限流）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Surface / ImageReceiver 收帧；按用途降采样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2580" y="2331720"/>
            <a:ext cx="0" cy="274320"/>
          </a:xfrm>
          <a:prstGeom prst="line">
            <a:avLst/>
          </a:prstGeom>
          <a:ln w="15875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26679" y="2606040"/>
            <a:ext cx="2971801" cy="0"/>
          </a:xfrm>
          <a:prstGeom prst="line">
            <a:avLst/>
          </a:prstGeom>
          <a:ln w="15875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03820" y="2606040"/>
            <a:ext cx="0" cy="27432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040880" y="2880360"/>
            <a:ext cx="1325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显示</a:t>
            </a:r>
          </a:p>
          <a:p>
            <a:pPr algn="ctr">
              <a:spcBef>
                <a:spcPts val="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用户所见画面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12580" y="2606040"/>
            <a:ext cx="0" cy="27432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503920" y="2880360"/>
            <a:ext cx="141732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稳定帧门控</a:t>
            </a:r>
          </a:p>
          <a:p>
            <a:pPr algn="ctr">
              <a:spcBef>
                <a:spcPts val="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独立模块 · motion meta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721340" y="2606040"/>
            <a:ext cx="0" cy="27432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058400" y="2880360"/>
            <a:ext cx="13258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AR 空间建模</a:t>
            </a:r>
          </a:p>
          <a:p>
            <a:pPr algn="ctr">
              <a:spcBef>
                <a:spcPts val="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自有帧率 / 分辨率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12580" y="3566160"/>
            <a:ext cx="0" cy="27432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046720" y="3840480"/>
            <a:ext cx="233172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感知 / 端侧大模型</a:t>
            </a:r>
          </a:p>
          <a:p>
            <a:pPr algn="ctr">
              <a:spcBef>
                <a:spcPts val="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仅在稳定帧触发；异步、过期丢弃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212580" y="4434840"/>
            <a:ext cx="0" cy="27432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046720" y="4709160"/>
            <a:ext cx="233172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分发服务 + 规则 → chips</a:t>
            </a:r>
          </a:p>
          <a:p>
            <a:pPr algn="ctr">
              <a:spcBef>
                <a:spcPts val="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冷却 / 去重 / 点击执行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40880" y="5440680"/>
            <a:ext cx="4343400" cy="54864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拍摄按钮 → CaptureAt(ts) → RGB + 深度(fd) + meta</a:t>
            </a:r>
          </a:p>
          <a:p>
            <a:pPr algn="ctr">
              <a:spcBef>
                <a:spcPts val="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对齐校验后送模型 / AR；显示层 XComponent 可用性待实测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74920" y="1828800"/>
            <a:ext cx="196596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212080" y="1453895"/>
            <a:ext cx="173736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0" bIns="0"/>
          <a:lstStyle/>
          <a:p>
            <a:pPr algn="ctr"/>
            <a:r>
              <a:rPr sz="900" b="0">
                <a:solidFill>
                  <a:srgbClr val="2563EB"/>
                </a:solidFill>
                <a:latin typeface="Microsoft YaHei"/>
                <a:ea typeface="Microsoft YaHei"/>
              </a:rPr>
              <a:t>预览 Buffer + meta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5760720" y="5669280"/>
            <a:ext cx="1280160" cy="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760720" y="2103120"/>
            <a:ext cx="0" cy="356616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074920" y="2103120"/>
            <a:ext cx="685800" cy="0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074920" y="2331720"/>
            <a:ext cx="1325880" cy="0"/>
          </a:xfrm>
          <a:prstGeom prst="line">
            <a:avLst/>
          </a:prstGeom>
          <a:ln w="19050">
            <a:solidFill>
              <a:srgbClr val="D9770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400800" y="2331720"/>
            <a:ext cx="0" cy="3538728"/>
          </a:xfrm>
          <a:prstGeom prst="line">
            <a:avLst/>
          </a:prstGeom>
          <a:ln w="19050">
            <a:solidFill>
              <a:srgbClr val="D9770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400800" y="5870448"/>
            <a:ext cx="640080" cy="0"/>
          </a:xfrm>
          <a:prstGeom prst="line">
            <a:avLst/>
          </a:prstGeom>
          <a:ln w="19050">
            <a:solidFill>
              <a:srgbClr val="D9770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623560" y="3017520"/>
            <a:ext cx="9144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00" b="1">
                <a:solidFill>
                  <a:srgbClr val="64748B"/>
                </a:solidFill>
                <a:latin typeface="Microsoft YaHei"/>
                <a:ea typeface="Microsoft YaHei"/>
              </a:rPr>
              <a:t>进程边界</a:t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IPC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0" y="4206240"/>
            <a:ext cx="1188720" cy="7772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800" b="1">
                <a:solidFill>
                  <a:srgbClr val="D97706"/>
                </a:solidFill>
                <a:latin typeface="Microsoft YaHei"/>
                <a:ea typeface="Microsoft YaHei"/>
              </a:rPr>
              <a:t>── 实线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  <a:ea typeface="Microsoft YaHei"/>
              </a:rPr>
              <a:t>CaptureAt(ts)</a:t>
            </a:r>
          </a:p>
          <a:p>
            <a:pPr algn="ctr">
              <a:spcBef>
                <a:spcPts val="0"/>
              </a:spcBef>
            </a:pPr>
            <a:r>
              <a:rPr sz="800" b="1">
                <a:solidFill>
                  <a:srgbClr val="D97706"/>
                </a:solidFill>
                <a:latin typeface="Microsoft YaHei"/>
                <a:ea typeface="Microsoft YaHei"/>
              </a:rPr>
              <a:t>╌╌ 虚线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0F172A"/>
                </a:solidFill>
                <a:latin typeface="Microsoft YaHei"/>
                <a:ea typeface="Microsoft YaHei"/>
              </a:rPr>
              <a:t>RGB+Depth fd+meta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关键设计 ①｜预览流获取与三路分发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小艺提供 / 消费 Surface；配流由相机 App → 框架 → HAL 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小艺 Camera Tab（UEC）智能感知方案 · 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4183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4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8016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</a:rPr>
              <a:t>进 Tab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UEC 拉起</a:t>
            </a:r>
          </a:p>
        </p:txBody>
      </p:sp>
      <p:sp>
        <p:nvSpPr>
          <p:cNvPr id="10" name="Oval 9"/>
          <p:cNvSpPr/>
          <p:nvPr/>
        </p:nvSpPr>
        <p:spPr>
          <a:xfrm>
            <a:off x="1417320" y="1143000"/>
            <a:ext cx="274320" cy="27432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1783080"/>
            <a:ext cx="41148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28016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</a:rPr>
              <a:t>交换 Surface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surfaceId · 尺寸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BT709_FULL · fps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0" y="114300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9160" y="1783080"/>
            <a:ext cx="41148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128016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</a:rPr>
              <a:t>相机配流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Session 增加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小艺 Output</a:t>
            </a:r>
          </a:p>
        </p:txBody>
      </p:sp>
      <p:sp>
        <p:nvSpPr>
          <p:cNvPr id="16" name="Oval 15"/>
          <p:cNvSpPr/>
          <p:nvPr/>
        </p:nvSpPr>
        <p:spPr>
          <a:xfrm>
            <a:off x="5897880" y="114300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0" y="1783080"/>
            <a:ext cx="41148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128016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</a:rPr>
              <a:t>HAL 出图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预览 Buffer +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运动 meta 同 ts</a:t>
            </a:r>
          </a:p>
        </p:txBody>
      </p:sp>
      <p:sp>
        <p:nvSpPr>
          <p:cNvPr id="19" name="Oval 18"/>
          <p:cNvSpPr/>
          <p:nvPr/>
        </p:nvSpPr>
        <p:spPr>
          <a:xfrm>
            <a:off x="8138160" y="114300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89720" y="1783080"/>
            <a:ext cx="41148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0" y="128016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</a:rPr>
              <a:t>小艺分发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显示 / 模型 / AR</a:t>
            </a:r>
          </a:p>
        </p:txBody>
      </p:sp>
      <p:sp>
        <p:nvSpPr>
          <p:cNvPr id="22" name="Oval 21"/>
          <p:cNvSpPr/>
          <p:nvPr/>
        </p:nvSpPr>
        <p:spPr>
          <a:xfrm>
            <a:off x="10378440" y="114300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743200"/>
            <a:ext cx="6035040" cy="34747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2596896"/>
            <a:ext cx="2066543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三路分发（待拍板 B）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794760"/>
            <a:ext cx="1554480" cy="8229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</a:rPr>
              <a:t>预览流</a:t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HAL → Surface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77440" y="4206240"/>
            <a:ext cx="45720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834640" y="3246120"/>
            <a:ext cx="0" cy="192024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4640" y="3246120"/>
            <a:ext cx="36576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200400" y="2944368"/>
            <a:ext cx="20116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显示</a:t>
            </a:r>
          </a:p>
          <a:p>
            <a:pPr algn="ctr">
              <a:spcBef>
                <a:spcPts val="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全分辨率 · 30fps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34640" y="4206240"/>
            <a:ext cx="36576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00400" y="3904487"/>
            <a:ext cx="20116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模型</a:t>
            </a:r>
          </a:p>
          <a:p>
            <a:pPr algn="ctr">
              <a:spcBef>
                <a:spcPts val="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小图 · 1～5fps · 稳定帧触发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834640" y="5166360"/>
            <a:ext cx="36576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200400" y="4864608"/>
            <a:ext cx="20116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AR</a:t>
            </a:r>
          </a:p>
          <a:p>
            <a:pPr algn="ctr">
              <a:spcBef>
                <a:spcPts val="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按算法需求单独约定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017520"/>
            <a:ext cx="11430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</a:rPr>
              <a:t>B1 多 Output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相机一次出三路，各路独立分辨率；少拷贝，接口复杂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343400"/>
            <a:ext cx="11430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Microsoft YaHei"/>
                <a:ea typeface="Microsoft YaHei"/>
              </a:rPr>
              <a:t>B2 单路 fork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小艺收一路后分发；接口简单先跑通，需应用内降采样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715000"/>
            <a:ext cx="5486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E11D48"/>
                </a:solidFill>
                <a:latin typeface="Microsoft YaHei"/>
                <a:ea typeface="Microsoft YaHei"/>
              </a:rPr>
              <a:t>禁止：三路全帧率全分辨率裸拷贝（功耗 / 发热 / 拖垮预览）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2743200"/>
            <a:ext cx="4828032" cy="34747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76872" y="2596896"/>
            <a:ext cx="1627632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格式与元数据契约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063240"/>
            <a:ext cx="4480560" cy="3017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BT709_FULL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：BT.709 色域语义 + Full range，规定「数值怎么解释」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需写死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：实际像素格式（RGB / NV12…）、位深、stride、旋转责任方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运动 meta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：随预览每帧上传 gyro / accel / 对焦 / 曝光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硬约束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：meta.timestamp 与 frame.timestamp 可对齐；meta 缺失不得判稳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Surface 归属（A）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：谁创建、谁销毁、切 Tab 时谁先停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关键设计 ②｜稳定帧门控 → 感知 → 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门控独立成模块，挂在 Tab 业务层；感知只消费稳定事件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小艺 Camera Tab（UEC）智能感知方案 · 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4183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5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63039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预览帧 + 运动 meta</a:t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每帧，很轻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1874519"/>
            <a:ext cx="41148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1371599"/>
            <a:ext cx="2103120" cy="100584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StableFrameDetector</a:t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|gyro| / accel 阈值</a:t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连续 K 帧 / 持续 M 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92040" y="1874519"/>
            <a:ext cx="41148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5303520" y="1417319"/>
            <a:ext cx="1188720" cy="914400"/>
          </a:xfrm>
          <a:prstGeom prst="diamond">
            <a:avLst/>
          </a:prstGeom>
          <a:solidFill>
            <a:srgbClr val="D1FAE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稳定？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92240" y="1874519"/>
            <a:ext cx="411480" cy="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64808" y="1481327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0" bIns="0"/>
          <a:lstStyle/>
          <a:p>
            <a:pPr algn="ctr"/>
            <a:r>
              <a:rPr sz="900" b="0">
                <a:solidFill>
                  <a:srgbClr val="059669"/>
                </a:solidFill>
                <a:latin typeface="Microsoft YaHei"/>
                <a:ea typeface="Microsoft YaHei"/>
              </a:rPr>
              <a:t>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463039"/>
            <a:ext cx="15544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感知 Perception</a:t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检测 / 识别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58200" y="1874519"/>
            <a:ext cx="36576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23960" y="1463039"/>
            <a:ext cx="14630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端侧大模型</a:t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异步 · 过期丢弃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287000" y="1874519"/>
            <a:ext cx="320040" cy="0"/>
          </a:xfrm>
          <a:prstGeom prst="line">
            <a:avLst/>
          </a:prstGeom>
          <a:ln w="15875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607040" y="1463039"/>
            <a:ext cx="1033271" cy="8229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chips</a:t>
            </a:r>
          </a:p>
          <a:p>
            <a:pPr algn="ctr">
              <a:spcBef>
                <a:spcPts val="0"/>
              </a:spcBef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</a:rPr>
              <a:t>规则 / 冷却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97880" y="2331720"/>
            <a:ext cx="0" cy="548640"/>
          </a:xfrm>
          <a:prstGeom prst="line">
            <a:avLst/>
          </a:prstGeom>
          <a:ln w="15875">
            <a:solidFill>
              <a:srgbClr val="E11D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43600" y="244144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0" bIns="0"/>
          <a:lstStyle/>
          <a:p>
            <a:pPr algn="ctr"/>
            <a:r>
              <a:rPr sz="900" b="0">
                <a:solidFill>
                  <a:srgbClr val="E11D48"/>
                </a:solidFill>
                <a:latin typeface="Microsoft YaHei"/>
                <a:ea typeface="Microsoft YaHei"/>
              </a:rPr>
              <a:t>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288036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E4E6"/>
          </a:solidFill>
          <a:ln w="127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E11D48"/>
                </a:solidFill>
                <a:latin typeface="Microsoft YaHei"/>
                <a:ea typeface="Microsoft YaHei"/>
              </a:rPr>
              <a:t>丢弃 / 取消进行中推理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40480" y="2377439"/>
            <a:ext cx="0" cy="731521"/>
          </a:xfrm>
          <a:prstGeom prst="line">
            <a:avLst/>
          </a:prstGeom>
          <a:ln w="15875">
            <a:solidFill>
              <a:srgbClr val="0596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828800" y="3108960"/>
            <a:ext cx="2011680" cy="0"/>
          </a:xfrm>
          <a:prstGeom prst="line">
            <a:avLst/>
          </a:prstGeom>
          <a:ln w="15875">
            <a:solidFill>
              <a:srgbClr val="0596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" y="28803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0596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850" b="0">
                <a:solidFill>
                  <a:srgbClr val="64748B"/>
                </a:solidFill>
                <a:latin typeface="Microsoft YaHei"/>
                <a:ea typeface="Microsoft YaHei"/>
              </a:rPr>
              <a:t>AR 关键帧 / 深度
同一事件订阅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9476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3232" y="3648456"/>
            <a:ext cx="2944368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为什么独立成模块（而非塞进感知前）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11480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职责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114800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稳不稳（传感器）vs 有什么（内容），关注点分离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61772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复用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617720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模型、AR 关键帧、深度、chips 都订同一事件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12064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节奏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120640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每帧轻量先挡掉大部分重活，可单独调参 / 关闭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62356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623560"/>
            <a:ext cx="420624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喂假 meta 即可单测，不依赖整条感知链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794760"/>
            <a:ext cx="5376672" cy="24231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28231" y="3648456"/>
            <a:ext cx="2505456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门控输入 / 输出 / 参数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114800"/>
            <a:ext cx="498348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050" b="1">
                <a:solidFill>
                  <a:srgbClr val="4F46E5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输入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：MotionMetadata（gyro / accel / afState / exposure，同 ts）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4F46E5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辅助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：轻量帧差 / 光流，用于无 meta 兜底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4F46E5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输出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：OnStableFrame(ts)、OnUnstable()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4F46E5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参数（L）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：阈值、K 帧、M ms、冷却时间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4F46E5"/>
                </a:solidFill>
                <a:latin typeface="Microsoft YaHei"/>
                <a:ea typeface="Microsoft YaHei"/>
              </a:rPr>
              <a:t>• </a:t>
            </a:r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说明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：点击拍摄仍可强制 Capture，不必非稳不可（产品定）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关键设计 ③｜点击拍摄：RGB + 深度 + 运动 meta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不是从旧预览里「挖」深度，而是按 timestamp 触发一次带深度的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小艺 Camera Tab（UEC）智能感知方案 · 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4183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6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32588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用户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20" y="1783080"/>
            <a:ext cx="0" cy="438912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97480" y="132588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小艺 UEC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1783080"/>
            <a:ext cx="0" cy="438912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7800" y="132588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相机 App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0" y="1783080"/>
            <a:ext cx="0" cy="438912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18120" y="132588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0F172A"/>
                </a:solidFill>
                <a:latin typeface="Microsoft YaHei"/>
                <a:ea typeface="Microsoft YaHei"/>
              </a:rPr>
              <a:t>框架 → HDI → HAL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0" y="1783080"/>
            <a:ext cx="0" cy="4389120"/>
          </a:xfrm>
          <a:prstGeom prst="line">
            <a:avLst/>
          </a:prstGeom>
          <a:ln w="12700">
            <a:solidFill>
              <a:srgbClr val="CBD5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88720" y="2240280"/>
            <a:ext cx="2377440" cy="0"/>
          </a:xfrm>
          <a:prstGeom prst="line">
            <a:avLst/>
          </a:prstGeom>
          <a:ln w="15875">
            <a:solidFill>
              <a:srgbClr val="0F17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80160" y="1965960"/>
            <a:ext cx="2194559" cy="256032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</a:rPr>
              <a:t>① 点击拍摄（记 ts = T）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66160" y="2743200"/>
            <a:ext cx="2560320" cy="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0" y="2468880"/>
            <a:ext cx="2377440" cy="256032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</a:rPr>
              <a:t>② CaptureAt(T, rgb, depth, pause)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3246120"/>
            <a:ext cx="2560320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0" y="2971800"/>
            <a:ext cx="2377439" cy="256032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</a:rPr>
              <a:t>③ 单次 Capture + 深度（可短暂停 · C）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3520439"/>
            <a:ext cx="2834640" cy="3657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</a:rPr>
              <a:t>HAL：抓近 T 的 RGB · 单次算深度 · 附运动 meta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126480" y="4160520"/>
            <a:ext cx="2560320" cy="0"/>
          </a:xfrm>
          <a:prstGeom prst="line">
            <a:avLst/>
          </a:prstGeom>
          <a:ln w="15875">
            <a:solidFill>
              <a:srgbClr val="2563E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0" y="3886200"/>
            <a:ext cx="2377439" cy="256032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900" b="0">
                <a:solidFill>
                  <a:srgbClr val="2563EB"/>
                </a:solidFill>
                <a:latin typeface="Microsoft YaHei"/>
                <a:ea typeface="Microsoft YaHei"/>
              </a:rPr>
              <a:t>④ RGB + Depth(fd) + meta @T · 经 HDI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566160" y="4617720"/>
            <a:ext cx="2560320" cy="0"/>
          </a:xfrm>
          <a:prstGeom prst="line">
            <a:avLst/>
          </a:prstGeom>
          <a:ln w="15875">
            <a:solidFill>
              <a:srgbClr val="0596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7600" y="4343400"/>
            <a:ext cx="2377440" cy="256032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900" b="0">
                <a:solidFill>
                  <a:srgbClr val="059669"/>
                </a:solidFill>
                <a:latin typeface="Microsoft YaHei"/>
                <a:ea typeface="Microsoft YaHei"/>
              </a:rPr>
              <a:t>⑤ OnCaptureResult(rgb, depthFd, meta)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39" y="4846320"/>
            <a:ext cx="3291840" cy="36576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</a:rPr>
              <a:t>⑥ map fd 读深度 → 对齐校验 → 模型 / AR → 释放 fd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566160" y="5440680"/>
            <a:ext cx="2560320" cy="0"/>
          </a:xfrm>
          <a:prstGeom prst="line">
            <a:avLst/>
          </a:prstGeom>
          <a:ln w="15875">
            <a:solidFill>
              <a:srgbClr val="0596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657600" y="5166360"/>
            <a:ext cx="2377440" cy="256032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  <a:latin typeface="Microsoft YaHei"/>
                <a:ea typeface="Microsoft YaHei"/>
              </a:rPr>
              <a:t>⑦ ResumePreview（若曾 Pause）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188720" y="5852160"/>
            <a:ext cx="2377440" cy="0"/>
          </a:xfrm>
          <a:prstGeom prst="line">
            <a:avLst/>
          </a:prstGeom>
          <a:ln w="15875">
            <a:solidFill>
              <a:srgbClr val="D9770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80160" y="5577840"/>
            <a:ext cx="2194559" cy="256032"/>
          </a:xfrm>
          <a:prstGeom prst="rect">
            <a:avLst/>
          </a:prstGeom>
          <a:noFill/>
        </p:spPr>
        <p:txBody>
          <a:bodyPr wrap="square" anchor="b" lIns="25400" rIns="25400" tIns="12700" bIns="12700">
            <a:spAutoFit/>
          </a:bodyPr>
          <a:lstStyle/>
          <a:p>
            <a:pPr algn="ctr"/>
            <a:r>
              <a:rPr sz="900" b="0">
                <a:solidFill>
                  <a:srgbClr val="D97706"/>
                </a:solidFill>
                <a:latin typeface="Microsoft YaHei"/>
                <a:ea typeface="Microsoft YaHei"/>
              </a:rPr>
              <a:t>⑧ chips / 推荐结果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1325880"/>
            <a:ext cx="1581912" cy="4846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1417320"/>
            <a:ext cx="1417320" cy="4663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icrosoft YaHei"/>
                <a:ea typeface="Microsoft YaHei"/>
              </a:rPr>
              <a:t>名词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0F172A"/>
                </a:solidFill>
                <a:latin typeface="Microsoft YaHei"/>
                <a:ea typeface="Microsoft YaHei"/>
              </a:rPr>
              <a:t>fd：跨进程共享内存的「取货号」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0F172A"/>
                </a:solidFill>
                <a:latin typeface="Microsoft YaHei"/>
                <a:ea typeface="Microsoft YaHei"/>
              </a:rPr>
              <a:t>handle：指向 Buffer 的凭证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0F172A"/>
                </a:solidFill>
                <a:latin typeface="Microsoft YaHei"/>
                <a:ea typeface="Microsoft YaHei"/>
              </a:rPr>
              <a:t>HDI：框架 ↔ HAL 接口层，小艺不直连</a:t>
            </a:r>
          </a:p>
          <a:p>
            <a:pPr algn="l">
              <a:spcBef>
                <a:spcPts val="300"/>
              </a:spcBef>
            </a:pPr>
            <a:r>
              <a:rPr sz="400" b="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00" b="1">
                <a:solidFill>
                  <a:srgbClr val="D97706"/>
                </a:solidFill>
                <a:latin typeface="Microsoft YaHei"/>
                <a:ea typeface="Microsoft YaHei"/>
              </a:rPr>
              <a:t>对齐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0F172A"/>
                </a:solidFill>
                <a:latin typeface="Microsoft YaHei"/>
                <a:ea typeface="Microsoft YaHei"/>
              </a:rPr>
              <a:t>RGB / 深度 / meta 同 ts；对不齐 → TIMESTAMP_MISMATCH 不喂模型（H）</a:t>
            </a:r>
          </a:p>
          <a:p>
            <a:pPr algn="l">
              <a:spcBef>
                <a:spcPts val="300"/>
              </a:spcBef>
            </a:pPr>
            <a:r>
              <a:rPr sz="400" b="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00" b="1">
                <a:solidFill>
                  <a:srgbClr val="E11D48"/>
                </a:solidFill>
                <a:latin typeface="Microsoft YaHei"/>
                <a:ea typeface="Microsoft YaHei"/>
              </a:rPr>
              <a:t>待拍板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0F172A"/>
                </a:solidFill>
                <a:latin typeface="Microsoft YaHei"/>
                <a:ea typeface="Microsoft YaHei"/>
              </a:rPr>
              <a:t>C 停流否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0F172A"/>
                </a:solidFill>
                <a:latin typeface="Microsoft YaHei"/>
                <a:ea typeface="Microsoft YaHei"/>
              </a:rPr>
              <a:t>D 预览帧 vs Still</a:t>
            </a:r>
          </a:p>
          <a:p>
            <a:pPr algn="l">
              <a:spcBef>
                <a:spcPts val="300"/>
              </a:spcBef>
            </a:pPr>
            <a:r>
              <a:rPr sz="850" b="0">
                <a:solidFill>
                  <a:srgbClr val="0F172A"/>
                </a:solidFill>
                <a:latin typeface="Microsoft YaHei"/>
                <a:ea typeface="Microsoft YaHei"/>
              </a:rPr>
              <a:t>K fd 所有权 / 释放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接口清单（小艺 ↔ 相机 App）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五组接口；命名可改，语义保留；应用不直接调 HDI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小艺 Camera Tab（UEC）智能感知方案 · 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4183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7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188720"/>
            <a:ext cx="73152" cy="3749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1188720"/>
            <a:ext cx="11018520" cy="3749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188720"/>
            <a:ext cx="1554480" cy="3749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</a:rPr>
              <a:t>能力协商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252728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QueryCameraCapability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252728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→ sizes / formats / fps / 多 Output / motion meta / 按需深度 / 可否 Pause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36776"/>
            <a:ext cx="73152" cy="111556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1636776"/>
            <a:ext cx="11018520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636776"/>
            <a:ext cx="1554480" cy="11155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Microsoft YaHei"/>
                <a:ea typeface="Microsoft YaHei"/>
              </a:rPr>
              <a:t>预览会话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1700784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ProvideSurface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700784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surfaceId 交换（争议 A）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1947672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StartPreviewForXiaoyi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947672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size · format · fps · needMotionMeta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194560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OnPreviewStarted / Stopped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194560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以实配为准；Stopped 后可拆 Surface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441448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Pause / ResumePreview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441448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拍摄取深度时短暂停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825496"/>
            <a:ext cx="73152" cy="868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2825496"/>
            <a:ext cx="1101852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825496"/>
            <a:ext cx="15544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Microsoft YaHei"/>
                <a:ea typeface="Microsoft YaHei"/>
              </a:rPr>
              <a:t>帧 + 运动 meta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2889504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OnPreviewFrame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889504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或 Surface 隐式出帧：timestamp · buffer · transform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136392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OnPreviewMetadata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136392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同 ts：gyro / accel / 对焦 / 曝光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3383280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OnStableFrame(ts)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383280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小艺内部事件，非跨进程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767328"/>
            <a:ext cx="73152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" y="3767328"/>
            <a:ext cx="1101852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767328"/>
            <a:ext cx="15544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Microsoft YaHei"/>
                <a:ea typeface="Microsoft YaHei"/>
              </a:rPr>
              <a:t>拍摄 / 深度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3831336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CaptureAt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831336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targetTimestamp · needRgb · needDepth · allowPause · timeout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4078224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OnCaptureResult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078224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rgb · depth fd/handle · 宽高 / 单位 / 置信度 · meta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4325112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OnCaptureFailed / CancelCapture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4325112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code：TIMEOUT / DEPTH_UNAVAILABLE 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709160"/>
            <a:ext cx="73152" cy="8686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1792" y="4709160"/>
            <a:ext cx="1101852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709160"/>
            <a:ext cx="15544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Microsoft YaHei"/>
                <a:ea typeface="Microsoft YaHei"/>
              </a:rPr>
              <a:t>生命周期 / 抢占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4773168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OnXiaoyiTabShow / Hide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773168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Hide 停推理 / 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5020056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OnHostCameraBusy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5020056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宿主拍照 / 录像要回主预览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266944"/>
            <a:ext cx="310896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ReleaseAll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5266944"/>
            <a:ext cx="6035040" cy="2468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双向；断链 / 进程异常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669280"/>
            <a:ext cx="11091672" cy="658367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724144"/>
            <a:ext cx="10698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Microsoft YaHei"/>
                <a:ea typeface="Microsoft YaHei"/>
              </a:rPr>
              <a:t>关键说明：即便「画面画在小艺 Tab 内」，只要 Session 仍在相机 App，预览会话这组接口仍必须保留（争议 F）。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98464"/>
            <a:ext cx="106984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icrosoft YaHei"/>
                <a:ea typeface="Microsoft YaHei"/>
              </a:rPr>
              <a:t>错误码：OK · NO_PERMISSION · CAMERA_IN_USE · SURFACE_INVALID · FORMAT_UNSUPPORTED · TIMEOUT · DEPTH_UNAVAILABLE · TIMESTAMP_MISMATCH · DEVICE_THERMAL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风险与应对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最大风险不是 UEC 切 Tab 慢那一下，而是「流归属 + UEC 能力边界 + 实时负载」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小艺 Camera Tab（UEC）智能感知方案 · 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4183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8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468112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19"/>
            <a:ext cx="64008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44751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408176"/>
            <a:ext cx="44805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UEC 内起流 / 显示受限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2880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Microsoft YaHei"/>
                <a:ea typeface="Microsoft YaHei"/>
              </a:rPr>
              <a:t>风险  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>官方能力表曾列 UEC 不支持 XComponent，显示链路可能不可用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67712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r>
              <a:rPr sz="950" b="1">
                <a:solidFill>
                  <a:srgbClr val="4F46E5"/>
                </a:solidFill>
                <a:latin typeface="Microsoft YaHei"/>
                <a:ea typeface="Microsoft YaHei"/>
              </a:rPr>
              <a:t>应对  </a:t>
            </a:r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样机实测；备选：宿主画预览，小艺只吃分析流 + 叠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44368"/>
            <a:ext cx="5468112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81527"/>
            <a:ext cx="64008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10896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072384"/>
            <a:ext cx="44805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与主相机抢会话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93008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Microsoft YaHei"/>
                <a:ea typeface="Microsoft YaHei"/>
              </a:rPr>
              <a:t>风险  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>小艺再开一套 Session 会打断主预览或失败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3192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r>
              <a:rPr sz="950" b="1">
                <a:solidFill>
                  <a:srgbClr val="4F46E5"/>
                </a:solidFill>
                <a:latin typeface="Microsoft YaHei"/>
                <a:ea typeface="Microsoft YaHei"/>
              </a:rPr>
              <a:t>应对  </a:t>
            </a:r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单会话多输出 / Tab 级移交；进出 Tab 明确停启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08576"/>
            <a:ext cx="5468112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45736"/>
            <a:ext cx="64008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477316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736592"/>
            <a:ext cx="44805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端侧 LLM 跟帧负载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57216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Microsoft YaHei"/>
                <a:ea typeface="Microsoft YaHei"/>
              </a:rPr>
              <a:t>风险  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>满帧送模型 → 发热、掉帧、拖垮预览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96128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r>
              <a:rPr sz="950" b="1">
                <a:solidFill>
                  <a:srgbClr val="4F46E5"/>
                </a:solidFill>
                <a:latin typeface="Microsoft YaHei"/>
                <a:ea typeface="Microsoft YaHei"/>
              </a:rPr>
              <a:t>应对  </a:t>
            </a:r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稳定帧门控 + 降频 + 异步队列 + 过期丢弃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1280160"/>
            <a:ext cx="5468112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417319"/>
            <a:ext cx="64008" cy="123444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1444751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中高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408176"/>
            <a:ext cx="44805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推荐迟到 / chips 乱弹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82880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Microsoft YaHei"/>
                <a:ea typeface="Microsoft YaHei"/>
              </a:rPr>
              <a:t>风险  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>检测 + LLM 冷路径 1～3s，场景已切换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267712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r>
              <a:rPr sz="950" b="1">
                <a:solidFill>
                  <a:srgbClr val="4F46E5"/>
                </a:solidFill>
                <a:latin typeface="Microsoft YaHei"/>
                <a:ea typeface="Microsoft YaHei"/>
              </a:rPr>
              <a:t>应对  </a:t>
            </a:r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场景稳定再推；结果带 ts；冷却、去重、置信度门槛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2944368"/>
            <a:ext cx="5468112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081527"/>
            <a:ext cx="64008" cy="123444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10896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072384"/>
            <a:ext cx="44805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UEC 切换体感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493008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Microsoft YaHei"/>
                <a:ea typeface="Microsoft YaHei"/>
              </a:rPr>
              <a:t>风险  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>首次进 Tab 冷启几百 ms～1s，闪白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93192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r>
              <a:rPr sz="950" b="1">
                <a:solidFill>
                  <a:srgbClr val="4F46E5"/>
                </a:solidFill>
                <a:latin typeface="Microsoft YaHei"/>
                <a:ea typeface="Microsoft YaHei"/>
              </a:rPr>
              <a:t>应对  </a:t>
            </a:r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同色背景 + placeholder；评估进程保活策略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608576"/>
            <a:ext cx="5468112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4745736"/>
            <a:ext cx="64008" cy="123444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0" y="4773168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中高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736592"/>
            <a:ext cx="448056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</a:rPr>
              <a:t>生命周期 / 黑屏 / 泄漏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157216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Microsoft YaHei"/>
                <a:ea typeface="Microsoft YaHei"/>
              </a:rPr>
              <a:t>风险  </a:t>
            </a:r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>Surface 销毁顺序、fd 未释放、后台未停流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596128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Microsoft YaHei"/>
                <a:ea typeface="Microsoft YaHei"/>
              </a:rPr>
              <a:t/>
            </a:r>
            <a:r>
              <a:rPr sz="950" b="1">
                <a:solidFill>
                  <a:srgbClr val="4F46E5"/>
                </a:solidFill>
                <a:latin typeface="Microsoft YaHei"/>
                <a:ea typeface="Microsoft YaHei"/>
              </a:rPr>
              <a:t>应对  </a:t>
            </a:r>
            <a:r>
              <a:rPr sz="1000" b="1">
                <a:solidFill>
                  <a:srgbClr val="0F172A"/>
                </a:solidFill>
                <a:latin typeface="Microsoft YaHei"/>
                <a:ea typeface="Microsoft YaHei"/>
              </a:rPr>
              <a:t>显隐 / 前后台统一停启；fd 所有权写进契约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待评审决策点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建议按顺序拍板：会话主人 → Surface / 显示 → 格式 / meta → 分发 / 门控 → 拍摄路径 → 二级跳转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小艺 Camera Tab（UEC）智能感知方案 · 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4183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9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11091672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731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280160"/>
            <a:ext cx="21031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1280160"/>
            <a:ext cx="39319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选项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280160"/>
            <a:ext cx="3593591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建议 / 影响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64208"/>
            <a:ext cx="11091672" cy="67665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11091672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1856232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F/M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1664208"/>
            <a:ext cx="21031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会话主人 &amp; 主预览策略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79" y="1664208"/>
            <a:ext cx="39319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相机 App 握机（小艺消费）vs 小艺自 openCamera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664208"/>
            <a:ext cx="3593591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建议相机握机；进 Tab 停主预览或双 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340864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008376"/>
            <a:ext cx="11091672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2532888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A/G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2340864"/>
            <a:ext cx="21031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Surface 归属 &amp; UEC 显示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79" y="2340864"/>
            <a:ext cx="39319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小艺建 vs 相机建；UEC 能否 XComponent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340864"/>
            <a:ext cx="3593591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先实测 G；不可用则宿主显示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017520"/>
            <a:ext cx="11091672" cy="67665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685032"/>
            <a:ext cx="11091672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3209544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J/I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017520"/>
            <a:ext cx="21031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格式 &amp; 运动 meta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79" y="3017520"/>
            <a:ext cx="39319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RGB vs YUV；meta 字段集与每帧保障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017520"/>
            <a:ext cx="3593591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写死 pixelFormat / stride / 旋转；meta 同 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694176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361688"/>
            <a:ext cx="11091672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3886200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B/L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694176"/>
            <a:ext cx="21031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三路分发 &amp; 门控参数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79" y="3694176"/>
            <a:ext cx="39319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多 Output vs 单路 fork；阈值 / K 帧 / M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694176"/>
            <a:ext cx="3593591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先 B2 跑通，能力允许升 B1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370832"/>
            <a:ext cx="11091672" cy="67665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038344"/>
            <a:ext cx="11091672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" y="4562856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C/D/H/K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4370832"/>
            <a:ext cx="21031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拍摄路径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79" y="4370832"/>
            <a:ext cx="39319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停流否；预览帧 vs Still；δt 补偿；fd 所有权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4370832"/>
            <a:ext cx="3593591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允许短暂停；对齐失败不喂模型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47488"/>
            <a:ext cx="11091672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715000"/>
            <a:ext cx="11091672" cy="914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5239512"/>
            <a:ext cx="694944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5047488"/>
            <a:ext cx="21031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Microsoft YaHei"/>
                <a:ea typeface="Microsoft YaHei"/>
              </a:rPr>
              <a:t>跳第二个相机 UEC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79" y="5047488"/>
            <a:ext cx="3931920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宿主切换 vs UEC 内嵌套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5047488"/>
            <a:ext cx="3593591" cy="6766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</a:rPr>
              <a:t>宿主切换 + 先停当前流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CA8A04"/>
                </a:solidFill>
                <a:latin typeface="Microsoft YaHei"/>
                <a:ea typeface="Microsoft YaHei"/>
              </a:rPr>
              <a:t>另需产品 / 合规确认 N：预览与深度是否落盘、端侧模型是否出域、权限告知。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推进与验证计划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先用样机验证两道硬门，再细化规则与交互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小艺 Camera Tab（UEC）智能感知方案 · 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4183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10 / 11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1828800"/>
            <a:ext cx="10698480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691639" y="1645920"/>
            <a:ext cx="365760" cy="3657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74519" y="2011680"/>
            <a:ext cx="0" cy="320040"/>
          </a:xfrm>
          <a:prstGeom prst="line">
            <a:avLst/>
          </a:prstGeom>
          <a:ln w="15875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2331720"/>
            <a:ext cx="265176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2651760" cy="640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5420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阶段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技术预研（硬门）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2331720" cy="1645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050" b="1">
                <a:solidFill>
                  <a:srgbClr val="E11D48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UEC 进程能否稳定拿到并显示预览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E11D48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宿主握机 + 小艺 Output 共存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E11D48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运动 meta 每帧上传与 ts 对齐</a:t>
            </a:r>
          </a:p>
        </p:txBody>
      </p:sp>
      <p:sp>
        <p:nvSpPr>
          <p:cNvPr id="17" name="Oval 16"/>
          <p:cNvSpPr/>
          <p:nvPr/>
        </p:nvSpPr>
        <p:spPr>
          <a:xfrm>
            <a:off x="4480559" y="1645920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63440" y="2011680"/>
            <a:ext cx="0" cy="320040"/>
          </a:xfrm>
          <a:prstGeom prst="line">
            <a:avLst/>
          </a:prstGeom>
          <a:ln w="15875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337560" y="2331720"/>
            <a:ext cx="265176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2331720"/>
            <a:ext cx="2651760" cy="640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20440" y="25420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阶段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88036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闭环打通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291840"/>
            <a:ext cx="2331720" cy="1645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050" b="1">
                <a:solidFill>
                  <a:srgbClr val="059669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稳定帧门控 → 感知 → 端侧模型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chips 弹出与点击执行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59669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端到端时延 / 发热基线</a:t>
            </a:r>
          </a:p>
        </p:txBody>
      </p:sp>
      <p:sp>
        <p:nvSpPr>
          <p:cNvPr id="24" name="Oval 23"/>
          <p:cNvSpPr/>
          <p:nvPr/>
        </p:nvSpPr>
        <p:spPr>
          <a:xfrm>
            <a:off x="7269479" y="164592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52359" y="2011680"/>
            <a:ext cx="0" cy="320040"/>
          </a:xfrm>
          <a:prstGeom prst="line">
            <a:avLst/>
          </a:prstGeom>
          <a:ln w="15875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26479" y="2331720"/>
            <a:ext cx="265176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79" y="2331720"/>
            <a:ext cx="2651760" cy="640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59" y="25420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阶段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288036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深度与拍摄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291840"/>
            <a:ext cx="2331720" cy="1645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CaptureAt → RGB + 深度 fd 回传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停流策略与对齐校验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D97706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AR 建模接入</a:t>
            </a:r>
          </a:p>
        </p:txBody>
      </p:sp>
      <p:sp>
        <p:nvSpPr>
          <p:cNvPr id="31" name="Oval 30"/>
          <p:cNvSpPr/>
          <p:nvPr/>
        </p:nvSpPr>
        <p:spPr>
          <a:xfrm>
            <a:off x="10058399" y="16459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241279" y="2011680"/>
            <a:ext cx="0" cy="32004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915399" y="2331720"/>
            <a:ext cx="265176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5399" y="2331720"/>
            <a:ext cx="2651760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98279" y="25420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阶段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8036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</a:rPr>
              <a:t>体验打磨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291840"/>
            <a:ext cx="2331720" cy="16459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UEC 冷启闪白消减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chips 冷却 / 去重 / 阈值调优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</a:rPr>
              <a:t>• </a:t>
            </a:r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抢占、后台、异常恢复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303520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4F46E5"/>
                </a:solidFill>
                <a:latin typeface="Microsoft YaHei"/>
                <a:ea typeface="Microsoft YaHei"/>
              </a:rPr>
              <a:t>阶段 1 通过标准（Go / No-Go）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596128"/>
            <a:ext cx="10698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0F172A"/>
                </a:solidFill>
                <a:latin typeface="Microsoft YaHei"/>
                <a:ea typeface="Microsoft YaHei"/>
              </a:rPr>
              <a:t>① 小艺 Tab 内连续预览 ≥ 30 min 无黑屏 / 崩溃；② 进出 Tab 主预览可恢复；③ meta 与帧 ts 对齐率接近 100%。若 ① 失败则切换到「宿主显示 + 小艺分析」架构，其余设计不变。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10515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</a:rPr>
              <a:t>结论与请求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3232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</a:rPr>
              <a:t>方案可行；请评审拍板会话归属、显示位置与拍摄路径三项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小艺 Camera Tab（UEC）智能感知方案 · 评审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41832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</a:rPr>
              <a:t>11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1109167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35607"/>
            <a:ext cx="64008" cy="5577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56362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32588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  <a:ea typeface="Microsoft YaHei"/>
              </a:rPr>
              <a:t>相机 App 握相机 → 框架 → HDI → HAL；小艺 UEC 消费流、做感知与推荐；不直连 HAL / HDI。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86000"/>
            <a:ext cx="1109167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95728"/>
            <a:ext cx="64008" cy="55778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52374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门控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28600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  <a:ea typeface="Microsoft YaHei"/>
              </a:rPr>
              <a:t>稳定帧门控独立成模块，挂 Tab 业务层；感知 / 模型 / AR / 深度都订同一事件。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46120"/>
            <a:ext cx="1109167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55848"/>
            <a:ext cx="64008" cy="5577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483863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拍摄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246120"/>
            <a:ext cx="96012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Microsoft YaHei"/>
                <a:ea typeface="Microsoft YaHei"/>
              </a:rPr>
              <a:t>点击拍摄 = 按 timestamp 触发一次带深度的 Capture；RGB / 深度 / meta 同 ts 对齐。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43400"/>
            <a:ext cx="11091672" cy="1874519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80560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</a:rPr>
              <a:t>请评审决策</a:t>
            </a:r>
          </a:p>
        </p:txBody>
      </p:sp>
      <p:sp>
        <p:nvSpPr>
          <p:cNvPr id="23" name="Oval 22"/>
          <p:cNvSpPr/>
          <p:nvPr/>
        </p:nvSpPr>
        <p:spPr>
          <a:xfrm>
            <a:off x="923543" y="490118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864608"/>
            <a:ext cx="1005840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同意「相机握机、小艺消费」为基线架构，并授权与相机 / HAL 团队对齐接口契约</a:t>
            </a:r>
          </a:p>
        </p:txBody>
      </p:sp>
      <p:sp>
        <p:nvSpPr>
          <p:cNvPr id="25" name="Oval 24"/>
          <p:cNvSpPr/>
          <p:nvPr/>
        </p:nvSpPr>
        <p:spPr>
          <a:xfrm>
            <a:off x="923543" y="5285232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248656"/>
            <a:ext cx="1005840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同意先做阶段 1 样机预研（UEC 显示 + 会话共存 + meta 对齐）作为 Go / No-Go 门</a:t>
            </a:r>
          </a:p>
        </p:txBody>
      </p:sp>
      <p:sp>
        <p:nvSpPr>
          <p:cNvPr id="27" name="Oval 26"/>
          <p:cNvSpPr/>
          <p:nvPr/>
        </p:nvSpPr>
        <p:spPr>
          <a:xfrm>
            <a:off x="923543" y="5669280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8100" bIns="38100"/>
          <a:lstStyle/>
          <a:p>
            <a:pPr algn="ctr"/>
            <a:r>
              <a:rPr sz="900" b="1">
                <a:solidFill>
                  <a:srgbClr val="4F46E5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632704"/>
            <a:ext cx="1005840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明确拍摄路径偏好：允许短暂停流取深度；RGB 用预览帧还是 Still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